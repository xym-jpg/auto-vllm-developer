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 b="1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5_image1.png"/><Relationship Id="rId3" Type="http://schemas.openxmlformats.org/officeDocument/2006/relationships/image" Target="../media/s15_image2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6_image3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7_image5.png"/><Relationship Id="rId3" Type="http://schemas.openxmlformats.org/officeDocument/2006/relationships/image" Target="../media/s17_image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1"/>
          <p:cNvSpPr/>
          <p:nvPr/>
        </p:nvSpPr>
        <p:spPr>
          <a:xfrm>
            <a:off x="0" y="1500000"/>
            <a:ext cx="12192000" cy="33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2" name="Rectangle 102"/>
          <p:cNvSpPr/>
          <p:nvPr/>
        </p:nvSpPr>
        <p:spPr>
          <a:xfrm>
            <a:off x="0" y="1500000"/>
            <a:ext cx="12192000" cy="120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3" name="Rectangle 103"/>
          <p:cNvSpPr/>
          <p:nvPr/>
        </p:nvSpPr>
        <p:spPr>
          <a:xfrm>
            <a:off x="0" y="4680000"/>
            <a:ext cx="12192000" cy="120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4" name="TextBox 104"/>
          <p:cNvSpPr txBox="1"/>
          <p:nvPr/>
        </p:nvSpPr>
        <p:spPr>
          <a:xfrm>
            <a:off x="1000000" y="2150000"/>
            <a:ext cx="10192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/>
          <a:lstStyle/>
          <a:p>
            <a:pPr algn="ctr">
              <a:spcAft>
                <a:spcPts val="300"/>
              </a:spcAft>
            </a:pPr>
            <a:r>
              <a:rPr lang="zh-CN" altLang="en-US" sz="40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基于 Agent 工作流</a:t>
            </a:r>
          </a:p>
          <a:p>
            <a:pPr algn="ctr"/>
            <a:r>
              <a:rPr lang="zh-CN" altLang="en-US" sz="40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vLLM 推理性能优化效率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500000" y="3620000"/>
            <a:ext cx="60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>
              <a:spcAft>
                <a:spcPts val="500"/>
              </a:spcAft>
            </a:pPr>
            <a:r>
              <a:rPr lang="zh-CN" altLang="en-US"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QCC类型：</a:t>
            </a:r>
            <a:r>
              <a:rPr lang="zh-CN" altLang="en-US" sz="15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问题解决型</a:t>
            </a:r>
          </a:p>
          <a:p>
            <a:pPr algn="l">
              <a:spcAft>
                <a:spcPts val="500"/>
              </a:spcAft>
            </a:pPr>
            <a:r>
              <a:rPr lang="zh-CN" altLang="en-US"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圈      名：</a:t>
            </a:r>
            <a:r>
              <a:rPr lang="zh-CN" altLang="en-US" sz="15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效率提升圈</a:t>
            </a:r>
          </a:p>
          <a:p>
            <a:pPr algn="l"/>
            <a:r>
              <a:rPr lang="zh-CN" altLang="en-US"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部      门：</a:t>
            </a:r>
            <a:r>
              <a:rPr lang="zh-CN" altLang="en-US" sz="15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昇腾技术开发（模块）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团队组建</a:t>
            </a: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800000" y="1100000"/>
          <a:ext cx="10750000" cy="4140000"/>
        </p:xfrm>
        <a:graphic>
          <a:graphicData uri="http://schemas.openxmlformats.org/drawingml/2006/table">
            <a:tbl>
              <a:tblPr/>
              <a:tblGrid>
                <a:gridCol w="750000"/>
                <a:gridCol w="2200000"/>
                <a:gridCol w="780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序号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内容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说明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41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圈名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效率提升圈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主题名称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基于 Agent 工作流提升 vLLM 推理性能优化效率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主题类型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问题解决型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所属部门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昇腾技术开发（模块）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辅导员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黄蕾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圈长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许亦铭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圈员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待定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成立时间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2026.09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计划活动时间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2026.09 - 2026.12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成员能力评估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600000" y="900000"/>
            <a:ext cx="7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活动前团队能力评估（满分 10 分）</a:t>
            </a:r>
          </a:p>
        </p:txBody>
      </p:sp>
      <p:sp>
        <p:nvSpPr>
          <p:cNvPr id="103" name="Freeform 103"/>
          <p:cNvSpPr/>
          <p:nvPr/>
        </p:nvSpPr>
        <p:spPr>
          <a:xfrm>
            <a:off x="2619577" y="3550000"/>
            <a:ext cx="760845" cy="723606"/>
          </a:xfrm>
          <a:custGeom>
            <a:avLst/>
            <a:gdLst/>
            <a:ahLst/>
            <a:cxnLst/>
            <a:rect l="l" t="t" r="r" b="b"/>
            <a:pathLst>
              <a:path w="760845" h="723606">
                <a:moveTo>
                  <a:pt x="380423" y="0"/>
                </a:moveTo>
                <a:lnTo>
                  <a:pt x="760845" y="276393"/>
                </a:lnTo>
                <a:lnTo>
                  <a:pt x="615537" y="723606"/>
                </a:lnTo>
                <a:lnTo>
                  <a:pt x="145308" y="723606"/>
                </a:lnTo>
                <a:lnTo>
                  <a:pt x="0" y="276393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04" name="Freeform 104"/>
          <p:cNvSpPr/>
          <p:nvPr/>
        </p:nvSpPr>
        <p:spPr>
          <a:xfrm>
            <a:off x="2239154" y="3150000"/>
            <a:ext cx="1521691" cy="1447213"/>
          </a:xfrm>
          <a:custGeom>
            <a:avLst/>
            <a:gdLst/>
            <a:ahLst/>
            <a:cxnLst/>
            <a:rect l="l" t="t" r="r" b="b"/>
            <a:pathLst>
              <a:path w="1521691" h="1447213">
                <a:moveTo>
                  <a:pt x="760846" y="0"/>
                </a:moveTo>
                <a:lnTo>
                  <a:pt x="1521691" y="552786"/>
                </a:lnTo>
                <a:lnTo>
                  <a:pt x="1231074" y="1447213"/>
                </a:lnTo>
                <a:lnTo>
                  <a:pt x="290617" y="1447213"/>
                </a:lnTo>
                <a:lnTo>
                  <a:pt x="0" y="552786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05" name="Freeform 105"/>
          <p:cNvSpPr/>
          <p:nvPr/>
        </p:nvSpPr>
        <p:spPr>
          <a:xfrm>
            <a:off x="1858732" y="2750000"/>
            <a:ext cx="2282535" cy="2170820"/>
          </a:xfrm>
          <a:custGeom>
            <a:avLst/>
            <a:gdLst/>
            <a:ahLst/>
            <a:cxnLst/>
            <a:rect l="l" t="t" r="r" b="b"/>
            <a:pathLst>
              <a:path w="2282535" h="2170820">
                <a:moveTo>
                  <a:pt x="1141268" y="0"/>
                </a:moveTo>
                <a:lnTo>
                  <a:pt x="2282535" y="829179"/>
                </a:lnTo>
                <a:lnTo>
                  <a:pt x="1846610" y="2170820"/>
                </a:lnTo>
                <a:lnTo>
                  <a:pt x="435925" y="2170820"/>
                </a:lnTo>
                <a:lnTo>
                  <a:pt x="0" y="829179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06" name="Freeform 106"/>
          <p:cNvSpPr/>
          <p:nvPr/>
        </p:nvSpPr>
        <p:spPr>
          <a:xfrm>
            <a:off x="1478309" y="2350000"/>
            <a:ext cx="3043381" cy="2894427"/>
          </a:xfrm>
          <a:custGeom>
            <a:avLst/>
            <a:gdLst/>
            <a:ahLst/>
            <a:cxnLst/>
            <a:rect l="l" t="t" r="r" b="b"/>
            <a:pathLst>
              <a:path w="3043381" h="2894427">
                <a:moveTo>
                  <a:pt x="1521691" y="0"/>
                </a:moveTo>
                <a:lnTo>
                  <a:pt x="3043381" y="1105572"/>
                </a:lnTo>
                <a:lnTo>
                  <a:pt x="2462147" y="2894427"/>
                </a:lnTo>
                <a:lnTo>
                  <a:pt x="581234" y="2894427"/>
                </a:lnTo>
                <a:lnTo>
                  <a:pt x="0" y="1105572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07" name="Freeform 107"/>
          <p:cNvSpPr/>
          <p:nvPr/>
        </p:nvSpPr>
        <p:spPr>
          <a:xfrm>
            <a:off x="1097886" y="1950000"/>
            <a:ext cx="3804227" cy="3618033"/>
          </a:xfrm>
          <a:custGeom>
            <a:avLst/>
            <a:gdLst/>
            <a:ahLst/>
            <a:cxnLst/>
            <a:rect l="l" t="t" r="r" b="b"/>
            <a:pathLst>
              <a:path w="3804227" h="3618033">
                <a:moveTo>
                  <a:pt x="1902114" y="0"/>
                </a:moveTo>
                <a:lnTo>
                  <a:pt x="3804227" y="1381966"/>
                </a:lnTo>
                <a:lnTo>
                  <a:pt x="3077684" y="3618033"/>
                </a:lnTo>
                <a:lnTo>
                  <a:pt x="726543" y="3618033"/>
                </a:lnTo>
                <a:lnTo>
                  <a:pt x="0" y="1381966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08" name="Line 108"/>
          <p:cNvSpPr/>
          <p:nvPr/>
        </p:nvSpPr>
        <p:spPr>
          <a:xfrm flipV="1">
            <a:off x="3000000" y="1950000"/>
            <a:ext cx="0" cy="2000000"/>
          </a:xfrm>
          <a:prstGeom prst="line">
            <a:avLst/>
          </a:prstGeom>
          <a:ln w="9525" cap="flat">
            <a:solidFill>
              <a:srgbClr val="BFBFBF"/>
            </a:solidFill>
          </a:ln>
        </p:spPr>
      </p:sp>
      <p:sp>
        <p:nvSpPr>
          <p:cNvPr id="109" name="Line 109"/>
          <p:cNvSpPr/>
          <p:nvPr/>
        </p:nvSpPr>
        <p:spPr>
          <a:xfrm>
            <a:off x="3000000" y="3331966"/>
            <a:ext cx="1902113" cy="618034"/>
          </a:xfrm>
          <a:prstGeom prst="line">
            <a:avLst/>
          </a:prstGeom>
          <a:ln w="9525" cap="flat">
            <a:solidFill>
              <a:srgbClr val="BFBFBF"/>
            </a:solidFill>
          </a:ln>
        </p:spPr>
      </p:sp>
      <p:sp>
        <p:nvSpPr>
          <p:cNvPr id="110" name="Line 110"/>
          <p:cNvSpPr/>
          <p:nvPr/>
        </p:nvSpPr>
        <p:spPr>
          <a:xfrm flipV="1">
            <a:off x="3000000" y="3950000"/>
            <a:ext cx="1175570" cy="1618033"/>
          </a:xfrm>
          <a:prstGeom prst="line">
            <a:avLst/>
          </a:prstGeom>
          <a:ln w="9525" cap="flat">
            <a:solidFill>
              <a:srgbClr val="BFBFBF"/>
            </a:solidFill>
          </a:ln>
        </p:spPr>
      </p:sp>
      <p:sp>
        <p:nvSpPr>
          <p:cNvPr id="111" name="Line 111"/>
          <p:cNvSpPr/>
          <p:nvPr/>
        </p:nvSpPr>
        <p:spPr>
          <a:xfrm>
            <a:off x="1824429" y="3950000"/>
            <a:ext cx="1175571" cy="1618033"/>
          </a:xfrm>
          <a:prstGeom prst="line">
            <a:avLst/>
          </a:prstGeom>
          <a:ln w="9525" cap="flat">
            <a:solidFill>
              <a:srgbClr val="BFBFBF"/>
            </a:solidFill>
          </a:ln>
        </p:spPr>
      </p:sp>
      <p:sp>
        <p:nvSpPr>
          <p:cNvPr id="112" name="Line 112"/>
          <p:cNvSpPr/>
          <p:nvPr/>
        </p:nvSpPr>
        <p:spPr>
          <a:xfrm flipV="1">
            <a:off x="1097886" y="3331966"/>
            <a:ext cx="1902114" cy="618034"/>
          </a:xfrm>
          <a:prstGeom prst="line">
            <a:avLst/>
          </a:prstGeom>
          <a:ln w="9525" cap="flat">
            <a:solidFill>
              <a:srgbClr val="BFBFBF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2300000" y="1350000"/>
            <a:ext cx="1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QCC运用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620577" y="3035998"/>
            <a:ext cx="1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交付开发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3734196" y="5764001"/>
            <a:ext cx="1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问题分析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65803" y="5764001"/>
            <a:ext cx="1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任务推动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-20578" y="3035998"/>
            <a:ext cx="1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团队协作</a:t>
            </a:r>
          </a:p>
        </p:txBody>
      </p:sp>
      <p:sp>
        <p:nvSpPr>
          <p:cNvPr id="118" name="Freeform 118"/>
          <p:cNvSpPr/>
          <p:nvPr/>
        </p:nvSpPr>
        <p:spPr>
          <a:xfrm>
            <a:off x="1288098" y="2150000"/>
            <a:ext cx="3423803" cy="3256230"/>
          </a:xfrm>
          <a:custGeom>
            <a:avLst/>
            <a:gdLst/>
            <a:ahLst/>
            <a:cxnLst/>
            <a:rect l="l" t="t" r="r" b="b"/>
            <a:pathLst>
              <a:path w="3423803" h="3256230">
                <a:moveTo>
                  <a:pt x="1711902" y="0"/>
                </a:moveTo>
                <a:lnTo>
                  <a:pt x="3423803" y="1243769"/>
                </a:lnTo>
                <a:lnTo>
                  <a:pt x="2769915" y="3256230"/>
                </a:lnTo>
                <a:lnTo>
                  <a:pt x="653888" y="3256230"/>
                </a:lnTo>
                <a:lnTo>
                  <a:pt x="0" y="1243769"/>
                </a:lnTo>
                <a:close/>
              </a:path>
            </a:pathLst>
          </a:custGeom>
          <a:solidFill>
            <a:srgbClr val="BFBFBF">
              <a:alpha val="35000"/>
            </a:srgbClr>
          </a:solidFill>
          <a:ln w="9525">
            <a:solidFill>
              <a:srgbClr val="BFBFBF"/>
            </a:solidFill>
          </a:ln>
        </p:spPr>
      </p:sp>
      <p:sp>
        <p:nvSpPr>
          <p:cNvPr id="119" name="Freeform 119"/>
          <p:cNvSpPr/>
          <p:nvPr/>
        </p:nvSpPr>
        <p:spPr>
          <a:xfrm>
            <a:off x="1858732" y="3150000"/>
            <a:ext cx="2282535" cy="1932623"/>
          </a:xfrm>
          <a:custGeom>
            <a:avLst/>
            <a:gdLst/>
            <a:ahLst/>
            <a:cxnLst/>
            <a:rect l="l" t="t" r="r" b="b"/>
            <a:pathLst>
              <a:path w="2282535" h="1932623">
                <a:moveTo>
                  <a:pt x="1141268" y="0"/>
                </a:moveTo>
                <a:lnTo>
                  <a:pt x="2282535" y="429179"/>
                </a:lnTo>
                <a:lnTo>
                  <a:pt x="1964167" y="1932623"/>
                </a:lnTo>
                <a:lnTo>
                  <a:pt x="553482" y="1609016"/>
                </a:lnTo>
                <a:lnTo>
                  <a:pt x="0" y="429179"/>
                </a:lnTo>
                <a:close/>
              </a:path>
            </a:pathLst>
          </a:custGeom>
          <a:solidFill>
            <a:srgbClr val="990000">
              <a:alpha val="35000"/>
            </a:srgbClr>
          </a:solidFill>
          <a:ln w="9525">
            <a:solidFill>
              <a:srgbClr val="990000"/>
            </a:solidFill>
          </a:ln>
        </p:spPr>
      </p:sp>
      <p:graphicFrame>
        <p:nvGraphicFramePr>
          <p:cNvPr id="120" name="Table 120"/>
          <p:cNvGraphicFramePr>
            <a:graphicFrameLocks noGrp="1"/>
          </p:cNvGraphicFramePr>
          <p:nvPr/>
        </p:nvGraphicFramePr>
        <p:xfrm>
          <a:off x="5700000" y="1500000"/>
          <a:ext cx="6100000" cy="3120000"/>
        </p:xfrm>
        <a:graphic>
          <a:graphicData uri="http://schemas.openxmlformats.org/drawingml/2006/table">
            <a:tbl>
              <a:tblPr/>
              <a:tblGrid>
                <a:gridCol w="2500000"/>
                <a:gridCol w="1800000"/>
                <a:gridCol w="1800000"/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评分维度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活动前团队能力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目标改进团队能力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QCC 运用能力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交付开发能力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问题分析能力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任务推动能力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团队协作能力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1" name="Rectangle 121"/>
          <p:cNvSpPr/>
          <p:nvPr/>
        </p:nvSpPr>
        <p:spPr>
          <a:xfrm>
            <a:off x="6200000" y="5000000"/>
            <a:ext cx="300000" cy="220000"/>
          </a:xfrm>
          <a:prstGeom prst="rect">
            <a:avLst/>
          </a:prstGeom>
          <a:solidFill>
            <a:srgbClr val="990000">
              <a:alpha val="35000"/>
            </a:srgbClr>
          </a:solidFill>
          <a:ln w="12700" cap="flat">
            <a:solidFill>
              <a:srgbClr val="990000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2" name="TextBox 122"/>
          <p:cNvSpPr txBox="1"/>
          <p:nvPr/>
        </p:nvSpPr>
        <p:spPr>
          <a:xfrm>
            <a:off x="6550000" y="495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活动前团队能力</a:t>
            </a:r>
          </a:p>
        </p:txBody>
      </p:sp>
      <p:sp>
        <p:nvSpPr>
          <p:cNvPr id="123" name="Rectangle 123"/>
          <p:cNvSpPr/>
          <p:nvPr/>
        </p:nvSpPr>
        <p:spPr>
          <a:xfrm>
            <a:off x="6200000" y="5350000"/>
            <a:ext cx="300000" cy="220000"/>
          </a:xfrm>
          <a:prstGeom prst="rect">
            <a:avLst/>
          </a:prstGeom>
          <a:solidFill>
            <a:srgbClr val="BFBFBF">
              <a:alpha val="35000"/>
            </a:srgbClr>
          </a:solidFill>
          <a:ln w="12700" cap="flat">
            <a:solidFill>
              <a:srgbClr val="BFBFBF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4" name="TextBox 124"/>
          <p:cNvSpPr txBox="1"/>
          <p:nvPr/>
        </p:nvSpPr>
        <p:spPr>
          <a:xfrm>
            <a:off x="6550000" y="5300000"/>
            <a:ext cx="2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目标改进团队能力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活动计划</a:t>
            </a: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00000" y="1100000"/>
          <a:ext cx="11400000" cy="5250000"/>
        </p:xfrm>
        <a:graphic>
          <a:graphicData uri="http://schemas.openxmlformats.org/drawingml/2006/table">
            <a:tbl>
              <a:tblPr/>
              <a:tblGrid>
                <a:gridCol w="2000000"/>
                <a:gridCol w="3400000"/>
                <a:gridCol w="2200000"/>
                <a:gridCol w="1900000"/>
                <a:gridCol w="190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内容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活动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9-10月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11月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12月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0000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选择课题</a:t>
                      </a:r>
                    </a:p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把握现状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组圈注册登记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0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制定活动计划表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0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选择课题和把握现状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0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主题评审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分析根因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根因分析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000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拟定对策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对策拟定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0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对策评审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对策实施</a:t>
                      </a:r>
                    </a:p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效果确认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对策实施和效果确认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000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成果标准化</a:t>
                      </a:r>
                    </a:p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和总结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成果标准化和总结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0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成果评审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Rectangle 103"/>
          <p:cNvSpPr/>
          <p:nvPr/>
        </p:nvSpPr>
        <p:spPr>
          <a:xfrm>
            <a:off x="5900000" y="1640000"/>
            <a:ext cx="800000" cy="1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4" name="Rectangle 104"/>
          <p:cNvSpPr/>
          <p:nvPr/>
        </p:nvSpPr>
        <p:spPr>
          <a:xfrm>
            <a:off x="5900000" y="2120000"/>
            <a:ext cx="800000" cy="1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5" name="Rectangle 105"/>
          <p:cNvSpPr/>
          <p:nvPr/>
        </p:nvSpPr>
        <p:spPr>
          <a:xfrm>
            <a:off x="5900000" y="2600000"/>
            <a:ext cx="800000" cy="1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6" name="Rectangle 106"/>
          <p:cNvSpPr/>
          <p:nvPr/>
        </p:nvSpPr>
        <p:spPr>
          <a:xfrm>
            <a:off x="6100000" y="3560000"/>
            <a:ext cx="1300000" cy="1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7" name="Rectangle 107"/>
          <p:cNvSpPr/>
          <p:nvPr/>
        </p:nvSpPr>
        <p:spPr>
          <a:xfrm>
            <a:off x="8100000" y="4040000"/>
            <a:ext cx="1000000" cy="1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8" name="Rectangle 108"/>
          <p:cNvSpPr/>
          <p:nvPr/>
        </p:nvSpPr>
        <p:spPr>
          <a:xfrm>
            <a:off x="8500000" y="5000000"/>
            <a:ext cx="3000000" cy="1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9" name="Rectangle 109"/>
          <p:cNvSpPr/>
          <p:nvPr/>
        </p:nvSpPr>
        <p:spPr>
          <a:xfrm>
            <a:off x="10000000" y="5480000"/>
            <a:ext cx="1000000" cy="1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0" name="Rectangle 110"/>
          <p:cNvSpPr/>
          <p:nvPr/>
        </p:nvSpPr>
        <p:spPr>
          <a:xfrm>
            <a:off x="5900000" y="1810000"/>
            <a:ext cx="800000" cy="1300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1" name="Rectangle 111"/>
          <p:cNvSpPr/>
          <p:nvPr/>
        </p:nvSpPr>
        <p:spPr>
          <a:xfrm>
            <a:off x="5900000" y="2290000"/>
            <a:ext cx="800000" cy="1300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2" name="Rectangle 112"/>
          <p:cNvSpPr/>
          <p:nvPr/>
        </p:nvSpPr>
        <p:spPr>
          <a:xfrm>
            <a:off x="5900000" y="2770000"/>
            <a:ext cx="800000" cy="1300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3" name="Rectangle 113"/>
          <p:cNvSpPr/>
          <p:nvPr/>
        </p:nvSpPr>
        <p:spPr>
          <a:xfrm>
            <a:off x="6100000" y="3730000"/>
            <a:ext cx="1300000" cy="1300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4" name="Rectangle 114"/>
          <p:cNvSpPr/>
          <p:nvPr/>
        </p:nvSpPr>
        <p:spPr>
          <a:xfrm>
            <a:off x="7450000" y="3110000"/>
            <a:ext cx="260000" cy="240000"/>
          </a:xfrm>
          <a:prstGeom prst="triangl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5" name="Rectangle 115"/>
          <p:cNvSpPr/>
          <p:nvPr/>
        </p:nvSpPr>
        <p:spPr>
          <a:xfrm>
            <a:off x="9350000" y="4550000"/>
            <a:ext cx="260000" cy="240000"/>
          </a:xfrm>
          <a:prstGeom prst="triangl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6" name="Rectangle 116"/>
          <p:cNvSpPr/>
          <p:nvPr/>
        </p:nvSpPr>
        <p:spPr>
          <a:xfrm>
            <a:off x="11250000" y="5990000"/>
            <a:ext cx="260000" cy="240000"/>
          </a:xfrm>
          <a:prstGeom prst="triangl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7" name="Rectangle 117"/>
          <p:cNvSpPr/>
          <p:nvPr/>
        </p:nvSpPr>
        <p:spPr>
          <a:xfrm>
            <a:off x="7200000" y="6520000"/>
            <a:ext cx="300000" cy="20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8" name="TextBox 118"/>
          <p:cNvSpPr txBox="1"/>
          <p:nvPr/>
        </p:nvSpPr>
        <p:spPr>
          <a:xfrm>
            <a:off x="7560000" y="647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计划进度</a:t>
            </a:r>
          </a:p>
        </p:txBody>
      </p:sp>
      <p:sp>
        <p:nvSpPr>
          <p:cNvPr id="119" name="Rectangle 119"/>
          <p:cNvSpPr/>
          <p:nvPr/>
        </p:nvSpPr>
        <p:spPr>
          <a:xfrm>
            <a:off x="8800000" y="6540000"/>
            <a:ext cx="400000" cy="1600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0" name="TextBox 120"/>
          <p:cNvSpPr txBox="1"/>
          <p:nvPr/>
        </p:nvSpPr>
        <p:spPr>
          <a:xfrm>
            <a:off x="9250000" y="647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实际进度</a:t>
            </a:r>
          </a:p>
        </p:txBody>
      </p:sp>
      <p:sp>
        <p:nvSpPr>
          <p:cNvPr id="121" name="Rectangle 121"/>
          <p:cNvSpPr/>
          <p:nvPr/>
        </p:nvSpPr>
        <p:spPr>
          <a:xfrm>
            <a:off x="10500000" y="6500000"/>
            <a:ext cx="240000" cy="220000"/>
          </a:xfrm>
          <a:prstGeom prst="triangl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2" name="TextBox 122"/>
          <p:cNvSpPr txBox="1"/>
          <p:nvPr/>
        </p:nvSpPr>
        <p:spPr>
          <a:xfrm>
            <a:off x="10800000" y="6470000"/>
            <a:ext cx="1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阶段评审点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主题选定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20000"/>
            <a:ext cx="11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5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大模型推理性能优化</a:t>
            </a:r>
            <a:r>
              <a:rPr lang="zh-CN" altLang="en-US" sz="13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涉及调度策略、批次组织、并行方式、KV Cache、算子执行与环境配置多个环节，一轮优化需要反复进行代码阅读、瓶颈分析、修改、启动服务、精度验证与性能压测。本次 QCC 课题聚焦</a:t>
            </a:r>
            <a:r>
              <a:rPr lang="zh-CN" altLang="en-US" sz="130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推理性能优化效率提升</a:t>
            </a:r>
            <a:r>
              <a:rPr lang="zh-CN" altLang="en-US" sz="13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，倾听大家的声音（VOE）：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500000" y="1900000"/>
            <a:ext cx="3700000" cy="2000000"/>
          </a:xfrm>
          <a:prstGeom prst="wedgeRoundRectCallout">
            <a:avLst/>
          </a:prstGeom>
          <a:solidFill>
            <a:srgbClr val="FFFFFF"/>
          </a:solidFill>
          <a:ln w="1905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l">
              <a:spcAft>
                <a:spcPts val="40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源码与 NPU 环境都在远程宿主机/容器，本地修改后无法确认远程实际加载的是不是这份代码</a:t>
            </a:r>
          </a:p>
          <a:p>
            <a:pPr algn="l"/>
            <a:r>
              <a:rPr lang="zh-CN" altLang="en-US" sz="1150" dirty="0">
                <a:solidFill>
                  <a:srgbClr val="C00000"/>
                </a:solidFill>
                <a:latin typeface="Times New Roman"/>
                <a:ea typeface="SimSun"/>
                <a:cs typeface="Times New Roman"/>
              </a:rPr>
              <a:t>"改了但没生效"难以察觉，优化结论张冠李戴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400000" y="1900000"/>
            <a:ext cx="3700000" cy="2000000"/>
          </a:xfrm>
          <a:prstGeom prst="wedgeRoundRectCallout">
            <a:avLst/>
          </a:prstGeom>
          <a:solidFill>
            <a:srgbClr val="FFFFFF"/>
          </a:solidFill>
          <a:ln w="1905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l">
              <a:spcAft>
                <a:spcPts val="40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fuser -k 只能杀掉占用端口的 APIServer，EngineCore / VLLM::Worker 变成孤儿进程</a:t>
            </a:r>
          </a:p>
          <a:p>
            <a:pPr algn="l"/>
            <a:r>
              <a:rPr lang="zh-CN" altLang="en-US" sz="1150" dirty="0">
                <a:solidFill>
                  <a:srgbClr val="C00000"/>
                </a:solidFill>
                <a:latin typeface="Times New Roman"/>
                <a:ea typeface="SimSun"/>
                <a:cs typeface="Times New Roman"/>
              </a:rPr>
              <a:t>残留进程持续占用 NPU 显存，影响下一次实验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8300000" y="1900000"/>
            <a:ext cx="3700000" cy="2000000"/>
          </a:xfrm>
          <a:prstGeom prst="wedgeRoundRectCallout">
            <a:avLst/>
          </a:prstGeom>
          <a:solidFill>
            <a:srgbClr val="FFFFFF"/>
          </a:solidFill>
          <a:ln w="1905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l">
              <a:spcAft>
                <a:spcPts val="40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优化轮次一多，Agent 开始遗漏测试、偏离工作目录、错误判断远程执行结果</a:t>
            </a:r>
          </a:p>
          <a:p>
            <a:pPr algn="l"/>
            <a:r>
              <a:rPr lang="zh-CN" altLang="en-US" sz="1150" dirty="0">
                <a:solidFill>
                  <a:srgbClr val="C00000"/>
                </a:solidFill>
                <a:latin typeface="Times New Roman"/>
                <a:ea typeface="SimSun"/>
                <a:cs typeface="Times New Roman"/>
              </a:rPr>
              <a:t>缺少证据就宣布任务完成，结果不可信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500000" y="4350000"/>
            <a:ext cx="11200000" cy="2250000"/>
          </a:xfrm>
          <a:prstGeom prst="wedgeRoundRectCallout">
            <a:avLst/>
          </a:prstGeom>
          <a:solidFill>
            <a:srgbClr val="FFFFFF"/>
          </a:solidFill>
          <a:ln w="1905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l">
              <a:spcAft>
                <a:spcPts val="500"/>
              </a:spcAft>
            </a:pPr>
            <a:r>
              <a:rPr lang="zh-CN" altLang="en-US" sz="13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提升推理性能优化效率的呼声</a:t>
            </a:r>
            <a:r>
              <a:rPr lang="zh-CN" altLang="en-US" sz="13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—— 来自行业内外的声音</a:t>
            </a:r>
          </a:p>
          <a:p>
            <a:pPr algn="l">
              <a:spcAft>
                <a:spcPts val="40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Times New Roman"/>
                <a:ea typeface="SimSun"/>
                <a:cs typeface="Times New Roman"/>
              </a:rPr>
              <a:t>行业侧：</a:t>
            </a:r>
            <a:r>
              <a:rPr lang="zh-CN" altLang="en-US" sz="12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Coding Agent 已能辅助阅读代码与日志、提出优化假设，但长程探索不能仅依赖自然语言约束，需要确定性程序管理执行边界</a:t>
            </a:r>
          </a:p>
          <a:p>
            <a:pPr algn="l">
              <a:spcAft>
                <a:spcPts val="40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Times New Roman"/>
                <a:ea typeface="SimSun"/>
                <a:cs typeface="Times New Roman"/>
              </a:rPr>
              <a:t>业务侧：</a:t>
            </a:r>
            <a:r>
              <a:rPr lang="zh-CN" altLang="en-US" sz="12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vLLM / vLLM-Ascend 推理性能与精度问题分析任务密集，单机、PD 分离、aisbench 评测等场景都依赖远程 NPU 环境</a:t>
            </a:r>
          </a:p>
          <a:p>
            <a:pPr algn="l"/>
            <a:r>
              <a:rPr lang="zh-CN" altLang="en-US" sz="1200" b="1" dirty="0">
                <a:solidFill>
                  <a:srgbClr val="C00000"/>
                </a:solidFill>
                <a:latin typeface="Times New Roman"/>
                <a:ea typeface="SimSun"/>
                <a:cs typeface="Times New Roman"/>
              </a:rPr>
              <a:t>团队侧：</a:t>
            </a:r>
            <a:r>
              <a:rPr lang="zh-CN" altLang="en-US" sz="12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多人共用测试服务器，服务残留、环境误改会互相影响；重复的环境检查、服务启停操作占用大量有效开发时间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主题选定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20000"/>
            <a:ext cx="11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1、组织圈员，通过</a:t>
            </a:r>
            <a:r>
              <a:rPr lang="zh-CN" altLang="en-US" sz="130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头脑风暴</a:t>
            </a:r>
            <a:r>
              <a:rPr lang="zh-CN" altLang="en-US" sz="13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法列出推理性能优化过程中存在的关键问题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500000" y="1250000"/>
            <a:ext cx="3150000" cy="56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修改的源码未被实际加载，优化结论张冠李戴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3800000" y="1250000"/>
            <a:ext cx="3150000" cy="56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上传路径与执行路径不一致，脚本"消失"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500000" y="1910000"/>
            <a:ext cx="3150000" cy="56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非零退出码仍返回 success，误判执行成功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3800000" y="1910000"/>
            <a:ext cx="3150000" cy="56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服务停止不完整，残留进程占用 NPU 显存</a:t>
            </a:r>
          </a:p>
        </p:txBody>
      </p:sp>
      <p:sp>
        <p:nvSpPr>
          <p:cNvPr id="107" name="Rectangle 107"/>
          <p:cNvSpPr/>
          <p:nvPr/>
        </p:nvSpPr>
        <p:spPr>
          <a:xfrm>
            <a:off x="500000" y="2570000"/>
            <a:ext cx="3150000" cy="56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本地与远程执行位置混淆，改错源码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3800000" y="2570000"/>
            <a:ext cx="3150000" cy="56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测试 prompt 靠手工拼接，口径不统一</a:t>
            </a:r>
          </a:p>
        </p:txBody>
      </p:sp>
      <p:sp>
        <p:nvSpPr>
          <p:cNvPr id="109" name="Rectangle 109"/>
          <p:cNvSpPr/>
          <p:nvPr/>
        </p:nvSpPr>
        <p:spPr>
          <a:xfrm>
            <a:off x="500000" y="3230000"/>
            <a:ext cx="3150000" cy="56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评测结果与代码版本脱节，无法归因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3800000" y="3230000"/>
            <a:ext cx="3150000" cy="56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失败修改未可靠回退，污染后续实验基线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00000" y="3890000"/>
            <a:ext cx="3150000" cy="56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性能波动被误判为收益，保留无效优化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3800000" y="3890000"/>
            <a:ext cx="3150000" cy="56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探索经验只存在于对话上下文，重复尝试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400000" y="900000"/>
            <a:ext cx="43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2、挖掘改进主题并采用</a:t>
            </a:r>
            <a:r>
              <a:rPr lang="zh-CN" altLang="en-US" sz="130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亲和图</a:t>
            </a:r>
            <a:r>
              <a:rPr lang="zh-CN" altLang="en-US" sz="13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归类：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7400000" y="1350000"/>
            <a:ext cx="1700000" cy="1150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1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远程执行混乱</a:t>
            </a:r>
          </a:p>
        </p:txBody>
      </p:sp>
      <p:sp>
        <p:nvSpPr>
          <p:cNvPr id="115" name="Rectangle 115"/>
          <p:cNvSpPr/>
          <p:nvPr/>
        </p:nvSpPr>
        <p:spPr>
          <a:xfrm>
            <a:off x="9100000" y="1350000"/>
            <a:ext cx="2600000" cy="115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执行节点、作用域、工作目录不明确；上传与执行路径不一致；退出码与业务结果脱节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7400000" y="2650000"/>
            <a:ext cx="1700000" cy="1150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1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环境与源码错位</a:t>
            </a:r>
          </a:p>
        </p:txBody>
      </p:sp>
      <p:sp>
        <p:nvSpPr>
          <p:cNvPr id="117" name="Rectangle 117"/>
          <p:cNvSpPr/>
          <p:nvPr/>
        </p:nvSpPr>
        <p:spPr>
          <a:xfrm>
            <a:off x="9100000" y="2650000"/>
            <a:ext cx="2600000" cy="115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源码目录与 site-packages 安装包混用；PYTHONPATH 无统一约定，"改了没生效"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7400000" y="3950000"/>
            <a:ext cx="1700000" cy="1150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1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服务生命周期失控</a:t>
            </a:r>
          </a:p>
        </p:txBody>
      </p:sp>
      <p:sp>
        <p:nvSpPr>
          <p:cNvPr id="119" name="Rectangle 119"/>
          <p:cNvSpPr/>
          <p:nvPr/>
        </p:nvSpPr>
        <p:spPr>
          <a:xfrm>
            <a:off x="9100000" y="3950000"/>
            <a:ext cx="2600000" cy="115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启动方式不规范、停止只杀 API 进程；EngineCore/Worker 残留占用 NPU 显存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7400000" y="5250000"/>
            <a:ext cx="1700000" cy="1150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1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流程与评测不可控</a:t>
            </a:r>
          </a:p>
        </p:txBody>
      </p:sp>
      <p:sp>
        <p:nvSpPr>
          <p:cNvPr id="121" name="Rectangle 121"/>
          <p:cNvSpPr/>
          <p:nvPr/>
        </p:nvSpPr>
        <p:spPr>
          <a:xfrm>
            <a:off x="9100000" y="5250000"/>
            <a:ext cx="2600000" cy="115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0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无状态门禁，Agent 以文字声明代替验证；评测与版本脱节；失败修改无法受控回退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主题选定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780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采用 </a:t>
            </a:r>
            <a:r>
              <a:rPr lang="zh-CN" altLang="en-US" sz="1300" b="1" dirty="0">
                <a:solidFill>
                  <a:srgbClr val="C00000"/>
                </a:solidFill>
                <a:latin typeface="Times New Roman"/>
                <a:ea typeface="SimSun"/>
                <a:cs typeface="Times New Roman"/>
              </a:rPr>
              <a:t>C&amp;E 矩阵</a:t>
            </a:r>
            <a:r>
              <a:rPr lang="zh-CN" altLang="en-US" sz="13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 分别从业务相关性、紧迫性、可行性、工作量、效率提升几个维度来选定主题：</a:t>
            </a:r>
          </a:p>
        </p:txBody>
      </p:sp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1000000" y="1150000"/>
          <a:ext cx="10950000" cy="2600000"/>
        </p:xfrm>
        <a:graphic>
          <a:graphicData uri="http://schemas.openxmlformats.org/drawingml/2006/table">
            <a:tbl>
              <a:tblPr/>
              <a:tblGrid>
                <a:gridCol w="4300000"/>
                <a:gridCol w="1250000"/>
                <a:gridCol w="1100000"/>
                <a:gridCol w="1100000"/>
                <a:gridCol w="1100000"/>
                <a:gridCol w="1200000"/>
                <a:gridCol w="900000"/>
              </a:tblGrid>
              <a:tr h="75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备选主题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业务相关性</a:t>
                      </a:r>
                    </a:p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权重 10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紧迫性</a:t>
                      </a:r>
                    </a:p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权重 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可行性</a:t>
                      </a:r>
                    </a:p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权重 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工作量</a:t>
                      </a:r>
                    </a:p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权重 8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效率提升</a:t>
                      </a:r>
                    </a:p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权重 8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总分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统一远程执行与工作区约定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161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服务可靠启停与环境预检查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168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构建端到端 Agent 推理性能优化工作流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194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" name="TextBox 104"/>
          <p:cNvSpPr txBox="1"/>
          <p:nvPr/>
        </p:nvSpPr>
        <p:spPr>
          <a:xfrm>
            <a:off x="1000000" y="3900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2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评分标准：</a:t>
            </a:r>
          </a:p>
        </p:txBody>
      </p:sp>
      <p:graphicFrame>
        <p:nvGraphicFramePr>
          <p:cNvPr id="105" name="Table 105"/>
          <p:cNvGraphicFramePr>
            <a:graphicFrameLocks noGrp="1"/>
          </p:cNvGraphicFramePr>
          <p:nvPr/>
        </p:nvGraphicFramePr>
        <p:xfrm>
          <a:off x="1000000" y="4250000"/>
          <a:ext cx="10300000" cy="1900000"/>
        </p:xfrm>
        <a:graphic>
          <a:graphicData uri="http://schemas.openxmlformats.org/drawingml/2006/table">
            <a:tbl>
              <a:tblPr/>
              <a:tblGrid>
                <a:gridCol w="800000"/>
                <a:gridCol w="650000"/>
                <a:gridCol w="1900000"/>
                <a:gridCol w="1500000"/>
                <a:gridCol w="1750000"/>
                <a:gridCol w="1750000"/>
                <a:gridCol w="1950000"/>
              </a:tblGrid>
              <a:tr h="400000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打分</a:t>
                      </a:r>
                    </a:p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依据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分值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业务相关性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紧迫性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可行性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工作量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效率提升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00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与当前业务强相关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急需实现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按时达成无风险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工作投入 &lt;=1 人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时间/人力节省 &gt;50%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00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与当前业务有交叉弱相关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紧迫性适中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按时达成有风险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工作投入 2-4 人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时间/人力节省 15-50%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00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与业务不相关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无时间要求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无法按时达成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工作投入 &gt;4 人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时间/人力节省 &lt;15%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6" name="Rectangle 106"/>
          <p:cNvSpPr/>
          <p:nvPr/>
        </p:nvSpPr>
        <p:spPr>
          <a:xfrm>
            <a:off x="400000" y="6300000"/>
            <a:ext cx="11400000" cy="450000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结合部门重点工作和用户声音，综合分析后选出 "</a:t>
            </a:r>
            <a:r>
              <a:rPr lang="zh-CN" altLang="en-US" sz="1350" b="1" dirty="0">
                <a:solidFill>
                  <a:srgbClr val="C00000"/>
                </a:solidFill>
                <a:latin typeface="Times New Roman"/>
                <a:ea typeface="SimSun"/>
                <a:cs typeface="Times New Roman"/>
              </a:rPr>
              <a:t>基于 Agent 工作流提升 vLLM 推理性能优化效率</a:t>
            </a:r>
            <a:r>
              <a:rPr lang="zh-CN" altLang="en-US" sz="13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" 作为本次改进方向。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现状调查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2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现状调查：团队日常推理优化中，源码与 NPU 环境在远程宿主机/容器，本地发起任务，执行位置、源码加载、服务状态全靠人工核对，错误难以及时发现。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00000" y="1250000"/>
            <a:ext cx="11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5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一、远程执行链路缺乏统一约定，错误难察觉：</a:t>
            </a:r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0000" y="1700000"/>
          <a:ext cx="11300000" cy="3250000"/>
        </p:xfrm>
        <a:graphic>
          <a:graphicData uri="http://schemas.openxmlformats.org/drawingml/2006/table">
            <a:tbl>
              <a:tblPr/>
              <a:tblGrid>
                <a:gridCol w="2600000"/>
                <a:gridCol w="5200000"/>
                <a:gridCol w="350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典型问题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真实表现（实测记录）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对优化过程的影响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源码未被实际加载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容器内同时存在两个源码目录，实际却从 site-packages 导入安装包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优化结论张冠李戴，"改了没生效"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执行位置混淆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curl 上传路径与脚本执行路径不一致；宿主机/容器作用域不分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改错源码、误读日志、误停服务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执行结果误判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远程命令非零退出码，调用通道仍返回 success=true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失败被当作成功，后续步骤全部作废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服务停止不完整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fuser -k 杀掉 APIServer 后，3 个 VLLM::Worker 残留，EngineCore 变孤儿进程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NPU 显存被持续占用，污染环境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TextBox 105"/>
          <p:cNvSpPr txBox="1"/>
          <p:nvPr/>
        </p:nvSpPr>
        <p:spPr>
          <a:xfrm>
            <a:off x="500000" y="5050000"/>
            <a:ext cx="11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5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二、Agent 长程优化缺少程序兜底：</a:t>
            </a:r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0000" y="5480000"/>
          <a:ext cx="11300000" cy="1120000"/>
        </p:xfrm>
        <a:graphic>
          <a:graphicData uri="http://schemas.openxmlformats.org/drawingml/2006/table">
            <a:tbl>
              <a:tblPr/>
              <a:tblGrid>
                <a:gridCol w="2600000"/>
                <a:gridCol w="3400000"/>
                <a:gridCol w="2600000"/>
                <a:gridCol w="2700000"/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流程约束随轮次弱化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跳过评测或回滚，行为不可复现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探索经验依赖对话上下文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重复尝试、结论丢失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评测与代码版本脱节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无法确认收益对应哪次修改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失败修改未可靠恢复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后续实验基线被污染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现状调查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00000"/>
            <a:ext cx="11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4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三、推理优化链路繁琐易错、结果不可信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500000" y="1300000"/>
            <a:ext cx="5400000" cy="450000"/>
          </a:xfrm>
          <a:prstGeom prst="rect">
            <a:avLst/>
          </a:prstGeom>
          <a:solidFill>
            <a:srgbClr val="C0C0C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手动链路（现状）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700000" y="1900000"/>
            <a:ext cx="5000000" cy="52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① 本地修改代码，手动打包同步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700000" y="2540000"/>
            <a:ext cx="5000000" cy="52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② SSH 登录远程服务器/容器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700000" y="3180000"/>
            <a:ext cx="5000000" cy="52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③ 人工核对环境与源码路径</a:t>
            </a:r>
          </a:p>
        </p:txBody>
      </p:sp>
      <p:sp>
        <p:nvSpPr>
          <p:cNvPr id="107" name="Rectangle 107"/>
          <p:cNvSpPr/>
          <p:nvPr/>
        </p:nvSpPr>
        <p:spPr>
          <a:xfrm>
            <a:off x="700000" y="3820000"/>
            <a:ext cx="5000000" cy="52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④ 手动拉起服务、拼接请求测试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700000" y="4460000"/>
            <a:ext cx="5000000" cy="52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⑤ 手动停止服务、清理进程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700000" y="52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每台机器、每次迭代重复以上步骤，出错靠人肉发现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6492000" y="2700000"/>
            <a:ext cx="600000" cy="900000"/>
          </a:xfrm>
          <a:prstGeom prst="rightArrow">
            <a:avLst/>
          </a:prstGeom>
          <a:solidFill>
            <a:srgbClr val="99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1" name="Rectangle 111"/>
          <p:cNvSpPr/>
          <p:nvPr/>
        </p:nvSpPr>
        <p:spPr>
          <a:xfrm>
            <a:off x="7300000" y="1300000"/>
            <a:ext cx="4400000" cy="450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工作流（目标）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7300000" y="1900000"/>
            <a:ext cx="4400000" cy="520000"/>
          </a:xfrm>
          <a:prstGeom prst="rect">
            <a:avLst/>
          </a:prstGeom>
          <a:solidFill>
            <a:srgbClr val="FCE4E4"/>
          </a:solidFill>
          <a:ln w="12700" cap="flat">
            <a:solidFill>
              <a:srgbClr val="99000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"检查 x.x.x.x 上 vllm 容器的 Python 环境"</a:t>
            </a:r>
          </a:p>
        </p:txBody>
      </p:sp>
      <p:sp>
        <p:nvSpPr>
          <p:cNvPr id="113" name="Rectangle 113"/>
          <p:cNvSpPr/>
          <p:nvPr/>
        </p:nvSpPr>
        <p:spPr>
          <a:xfrm>
            <a:off x="7300000" y="2540000"/>
            <a:ext cx="4400000" cy="520000"/>
          </a:xfrm>
          <a:prstGeom prst="rect">
            <a:avLst/>
          </a:prstGeom>
          <a:solidFill>
            <a:srgbClr val="FCE4E4"/>
          </a:solidFill>
          <a:ln w="12700" cap="flat">
            <a:solidFill>
              <a:srgbClr val="99000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"在容器里拉起 DeepSeek 服务并跑基准测试"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7300000" y="3180000"/>
            <a:ext cx="4400000" cy="520000"/>
          </a:xfrm>
          <a:prstGeom prst="rect">
            <a:avLst/>
          </a:prstGeom>
          <a:solidFill>
            <a:srgbClr val="FCE4E4"/>
          </a:solidFill>
          <a:ln w="12700" cap="flat">
            <a:solidFill>
              <a:srgbClr val="99000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"停止 x.x.x.x 上的服务并确认显存释放"</a:t>
            </a:r>
          </a:p>
        </p:txBody>
      </p:sp>
      <p:sp>
        <p:nvSpPr>
          <p:cNvPr id="115" name="Rectangle 115"/>
          <p:cNvSpPr/>
          <p:nvPr/>
        </p:nvSpPr>
        <p:spPr>
          <a:xfrm>
            <a:off x="7300000" y="3820000"/>
            <a:ext cx="4400000" cy="520000"/>
          </a:xfrm>
          <a:prstGeom prst="rect">
            <a:avLst/>
          </a:prstGeom>
          <a:solidFill>
            <a:srgbClr val="FCE4E4"/>
          </a:solidFill>
          <a:ln w="12700" cap="flat">
            <a:solidFill>
              <a:srgbClr val="99000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"把这次修改和评测结果关联记录下来"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7300000" y="4600000"/>
            <a:ext cx="44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>
              <a:spcAft>
                <a:spcPts val="30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环境检查、服务启停、测试评测由工作流技能完成</a:t>
            </a:r>
          </a:p>
          <a:p>
            <a:pPr algn="l">
              <a:spcAft>
                <a:spcPts val="30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程序校验替代文字声明：退出码、产物、版本关联逐项核对</a:t>
            </a:r>
          </a:p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执行位置可核实：响应携带 node_ref / scope / cwd</a:t>
            </a:r>
          </a:p>
        </p:txBody>
      </p:sp>
      <p:sp>
        <p:nvSpPr>
          <p:cNvPr id="117" name="Rectangle 117"/>
          <p:cNvSpPr/>
          <p:nvPr/>
        </p:nvSpPr>
        <p:spPr>
          <a:xfrm>
            <a:off x="400000" y="6100000"/>
            <a:ext cx="11400000" cy="48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手动优化链路繁琐易错、结果不可信，推理优化效率低，</a:t>
            </a:r>
            <a:r>
              <a:rPr lang="zh-CN" altLang="en-US" sz="1300" b="1" dirty="0">
                <a:solidFill>
                  <a:srgbClr val="C00000"/>
                </a:solidFill>
                <a:latin typeface="Times New Roman"/>
                <a:ea typeface="SimSun"/>
                <a:cs typeface="Times New Roman"/>
              </a:rPr>
              <a:t>建立受控的 Agent 工作流刻不容缓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设定目标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5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准确识别推理性能优化效率痛点，通过质量改进，达成：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500000" y="1350000"/>
            <a:ext cx="1500000" cy="4200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>
              <a:spcAft>
                <a:spcPts val="200"/>
              </a:spcAft>
            </a:pPr>
            <a:r>
              <a:rPr lang="zh-CN" altLang="en-US" sz="16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spcAft>
                <a:spcPts val="200"/>
              </a:spcAft>
            </a:pPr>
            <a:r>
              <a:rPr lang="zh-CN" altLang="en-US" sz="16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</a:t>
            </a:r>
          </a:p>
          <a:p>
            <a:pPr algn="ctr">
              <a:spcAft>
                <a:spcPts val="200"/>
              </a:spcAft>
            </a:pPr>
            <a:r>
              <a:rPr lang="zh-CN" altLang="en-US" sz="16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</a:t>
            </a:r>
          </a:p>
          <a:p>
            <a:pPr algn="ctr">
              <a:spcAft>
                <a:spcPts val="200"/>
              </a:spcAft>
            </a:pPr>
            <a:r>
              <a:rPr lang="zh-CN" altLang="en-US" sz="16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标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2000000" y="1350000"/>
            <a:ext cx="1500000" cy="1300000"/>
          </a:xfrm>
          <a:prstGeom prst="rect">
            <a:avLst/>
          </a:prstGeom>
          <a:solidFill>
            <a:srgbClr val="C0C0C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2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目标一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3500000" y="1350000"/>
            <a:ext cx="8200000" cy="130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2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Agent 在受控边界内独立完成远程代码读改、服务启停与测试评测，执行位置、退出码、产物逐项程序校验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2000000" y="2800000"/>
            <a:ext cx="1500000" cy="1300000"/>
          </a:xfrm>
          <a:prstGeom prst="rect">
            <a:avLst/>
          </a:prstGeom>
          <a:solidFill>
            <a:srgbClr val="C0C0C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2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目标二</a:t>
            </a:r>
          </a:p>
        </p:txBody>
      </p:sp>
      <p:sp>
        <p:nvSpPr>
          <p:cNvPr id="107" name="Rectangle 107"/>
          <p:cNvSpPr/>
          <p:nvPr/>
        </p:nvSpPr>
        <p:spPr>
          <a:xfrm>
            <a:off x="3500000" y="2800000"/>
            <a:ext cx="8200000" cy="130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2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每次修改关联唯一计划项、代码版本与评测结果，过程可追溯、失败可受控回退，基线不被污染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2000000" y="4250000"/>
            <a:ext cx="1500000" cy="1300000"/>
          </a:xfrm>
          <a:prstGeom prst="rect">
            <a:avLst/>
          </a:prstGeom>
          <a:solidFill>
            <a:srgbClr val="C0C0C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2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目标三</a:t>
            </a:r>
          </a:p>
        </p:txBody>
      </p:sp>
      <p:sp>
        <p:nvSpPr>
          <p:cNvPr id="109" name="Rectangle 109"/>
          <p:cNvSpPr/>
          <p:nvPr/>
        </p:nvSpPr>
        <p:spPr>
          <a:xfrm>
            <a:off x="3500000" y="4250000"/>
            <a:ext cx="8200000" cy="130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2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能力沉淀为 vllm-ascend-developer 插件，/plugin 一键安装，组内成员可复用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500000" y="5900000"/>
            <a:ext cx="1500000" cy="750000"/>
          </a:xfrm>
          <a:prstGeom prst="rect">
            <a:avLst/>
          </a:prstGeom>
          <a:solidFill>
            <a:srgbClr val="C0C0C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>
              <a:spcAft>
                <a:spcPts val="20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可行性</a:t>
            </a:r>
          </a:p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2000000" y="5900000"/>
            <a:ext cx="9700000" cy="75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>
              <a:spcAft>
                <a:spcPts val="2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1. Coding Agent 的 Plugin / Skill 机制成熟，插件可通过 marketplace 一键分发，组内复用门槛低；</a:t>
            </a:r>
          </a:p>
          <a:p>
            <a:pPr algn="l">
              <a:spcAft>
                <a:spcPts val="2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2. SSH、容器执行与评测能力已有脚本可直接复用，不重复建设命令层，工作量可控；</a:t>
            </a:r>
          </a:p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3. PreToolUse Hook 能在工具调用前校验路径与动作边界，状态机可保证流程不可逆、可恢复。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根因分析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00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2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小组成员采用</a:t>
            </a:r>
            <a:r>
              <a:rPr lang="zh-CN" altLang="en-US" sz="120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头脑风暴法</a:t>
            </a:r>
            <a:r>
              <a:rPr lang="zh-CN" altLang="en-US" sz="12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对推理性能优化效率低下的各种影响因素进行了讨论，使用</a:t>
            </a:r>
            <a:r>
              <a:rPr lang="zh-CN" altLang="en-US" sz="120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鱼骨图</a:t>
            </a:r>
            <a:r>
              <a:rPr lang="zh-CN" altLang="en-US" sz="12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方式进行分析展示：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900000" y="3320000"/>
            <a:ext cx="8800000" cy="360000"/>
          </a:xfrm>
          <a:prstGeom prst="rightArrow">
            <a:avLst/>
          </a:prstGeom>
          <a:solidFill>
            <a:srgbClr val="FFFFFF"/>
          </a:solidFill>
          <a:ln w="19050" cap="flat">
            <a:solidFill>
              <a:srgbClr val="990000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04" name="Rectangle 104"/>
          <p:cNvSpPr/>
          <p:nvPr/>
        </p:nvSpPr>
        <p:spPr>
          <a:xfrm>
            <a:off x="9750000" y="2800000"/>
            <a:ext cx="2100000" cy="1400000"/>
          </a:xfrm>
          <a:prstGeom prst="roundRect">
            <a:avLst/>
          </a:prstGeom>
          <a:solidFill>
            <a:srgbClr val="990000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推理性能优化</a:t>
            </a:r>
          </a:p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效率低、结果不可信</a:t>
            </a:r>
          </a:p>
        </p:txBody>
      </p:sp>
      <p:sp>
        <p:nvSpPr>
          <p:cNvPr id="105" name="Line 105"/>
          <p:cNvSpPr/>
          <p:nvPr/>
        </p:nvSpPr>
        <p:spPr>
          <a:xfrm flipV="1">
            <a:off x="1800000" y="1650000"/>
            <a:ext cx="1600000" cy="1670000"/>
          </a:xfrm>
          <a:prstGeom prst="line">
            <a:avLst/>
          </a:prstGeom>
          <a:ln w="19050" cap="flat">
            <a:solidFill>
              <a:srgbClr val="404040"/>
            </a:solidFill>
          </a:ln>
        </p:spPr>
      </p:sp>
      <p:sp>
        <p:nvSpPr>
          <p:cNvPr id="106" name="Rectangle 106"/>
          <p:cNvSpPr/>
          <p:nvPr/>
        </p:nvSpPr>
        <p:spPr>
          <a:xfrm>
            <a:off x="450000" y="1050000"/>
            <a:ext cx="2500000" cy="500000"/>
          </a:xfrm>
          <a:prstGeom prst="rect">
            <a:avLst/>
          </a:prstGeom>
          <a:solidFill>
            <a:srgbClr val="C0000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远程执行</a:t>
            </a:r>
          </a:p>
        </p:txBody>
      </p:sp>
      <p:sp>
        <p:nvSpPr>
          <p:cNvPr id="107" name="Rectangle 107"/>
          <p:cNvSpPr/>
          <p:nvPr/>
        </p:nvSpPr>
        <p:spPr>
          <a:xfrm>
            <a:off x="450000" y="1750000"/>
            <a:ext cx="2500000" cy="49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节点/作用域/cwd 不明确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450000" y="2330000"/>
            <a:ext cx="2500000" cy="49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上传与执行路径不一致</a:t>
            </a:r>
          </a:p>
        </p:txBody>
      </p:sp>
      <p:sp>
        <p:nvSpPr>
          <p:cNvPr id="109" name="Rectangle 109"/>
          <p:cNvSpPr/>
          <p:nvPr/>
        </p:nvSpPr>
        <p:spPr>
          <a:xfrm>
            <a:off x="450000" y="2910000"/>
            <a:ext cx="2500000" cy="49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退出码与业务结果脱节</a:t>
            </a:r>
          </a:p>
        </p:txBody>
      </p:sp>
      <p:sp>
        <p:nvSpPr>
          <p:cNvPr id="110" name="Line 110"/>
          <p:cNvSpPr/>
          <p:nvPr/>
        </p:nvSpPr>
        <p:spPr>
          <a:xfrm>
            <a:off x="1800000" y="3680000"/>
            <a:ext cx="1600000" cy="1570000"/>
          </a:xfrm>
          <a:prstGeom prst="line">
            <a:avLst/>
          </a:prstGeom>
          <a:ln w="19050" cap="flat">
            <a:solidFill>
              <a:srgbClr val="404040"/>
            </a:solidFill>
          </a:ln>
        </p:spPr>
      </p:sp>
      <p:sp>
        <p:nvSpPr>
          <p:cNvPr id="111" name="Rectangle 111"/>
          <p:cNvSpPr/>
          <p:nvPr/>
        </p:nvSpPr>
        <p:spPr>
          <a:xfrm>
            <a:off x="450000" y="5250000"/>
            <a:ext cx="2500000" cy="500000"/>
          </a:xfrm>
          <a:prstGeom prst="rect">
            <a:avLst/>
          </a:prstGeom>
          <a:solidFill>
            <a:srgbClr val="C0000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服务生命周期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450000" y="3990000"/>
            <a:ext cx="2500000" cy="39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停止只杀 API 进程</a:t>
            </a:r>
          </a:p>
        </p:txBody>
      </p:sp>
      <p:sp>
        <p:nvSpPr>
          <p:cNvPr id="113" name="Rectangle 113"/>
          <p:cNvSpPr/>
          <p:nvPr/>
        </p:nvSpPr>
        <p:spPr>
          <a:xfrm>
            <a:off x="450000" y="4400000"/>
            <a:ext cx="2500000" cy="39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Worker/EngineCore 残留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450000" y="4810000"/>
            <a:ext cx="2500000" cy="39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进程归属无法确认</a:t>
            </a:r>
          </a:p>
        </p:txBody>
      </p:sp>
      <p:sp>
        <p:nvSpPr>
          <p:cNvPr id="115" name="Line 115"/>
          <p:cNvSpPr/>
          <p:nvPr/>
        </p:nvSpPr>
        <p:spPr>
          <a:xfrm flipV="1">
            <a:off x="5600000" y="1650000"/>
            <a:ext cx="1600000" cy="1670000"/>
          </a:xfrm>
          <a:prstGeom prst="line">
            <a:avLst/>
          </a:prstGeom>
          <a:ln w="19050" cap="flat">
            <a:solidFill>
              <a:srgbClr val="404040"/>
            </a:solidFill>
          </a:ln>
        </p:spPr>
      </p:sp>
      <p:sp>
        <p:nvSpPr>
          <p:cNvPr id="116" name="Rectangle 116"/>
          <p:cNvSpPr/>
          <p:nvPr/>
        </p:nvSpPr>
        <p:spPr>
          <a:xfrm>
            <a:off x="4250000" y="1050000"/>
            <a:ext cx="2500000" cy="500000"/>
          </a:xfrm>
          <a:prstGeom prst="rect">
            <a:avLst/>
          </a:prstGeom>
          <a:solidFill>
            <a:srgbClr val="C0000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环境与源码</a:t>
            </a:r>
          </a:p>
        </p:txBody>
      </p:sp>
      <p:sp>
        <p:nvSpPr>
          <p:cNvPr id="117" name="Rectangle 117"/>
          <p:cNvSpPr/>
          <p:nvPr/>
        </p:nvSpPr>
        <p:spPr>
          <a:xfrm>
            <a:off x="4250000" y="1750000"/>
            <a:ext cx="2500000" cy="49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源码与 site-packages 混用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4250000" y="2330000"/>
            <a:ext cx="2500000" cy="49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PYTHONPATH 无统一约定</a:t>
            </a:r>
          </a:p>
        </p:txBody>
      </p:sp>
      <p:sp>
        <p:nvSpPr>
          <p:cNvPr id="119" name="Line 119"/>
          <p:cNvSpPr/>
          <p:nvPr/>
        </p:nvSpPr>
        <p:spPr>
          <a:xfrm>
            <a:off x="5600000" y="3680000"/>
            <a:ext cx="1600000" cy="1570000"/>
          </a:xfrm>
          <a:prstGeom prst="line">
            <a:avLst/>
          </a:prstGeom>
          <a:ln w="19050" cap="flat">
            <a:solidFill>
              <a:srgbClr val="404040"/>
            </a:solidFill>
          </a:ln>
        </p:spPr>
      </p:sp>
      <p:sp>
        <p:nvSpPr>
          <p:cNvPr id="120" name="Rectangle 120"/>
          <p:cNvSpPr/>
          <p:nvPr/>
        </p:nvSpPr>
        <p:spPr>
          <a:xfrm>
            <a:off x="4250000" y="5250000"/>
            <a:ext cx="2500000" cy="500000"/>
          </a:xfrm>
          <a:prstGeom prst="rect">
            <a:avLst/>
          </a:prstGeom>
          <a:solidFill>
            <a:srgbClr val="C0000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流程与评测</a:t>
            </a:r>
          </a:p>
        </p:txBody>
      </p:sp>
      <p:sp>
        <p:nvSpPr>
          <p:cNvPr id="121" name="Rectangle 121"/>
          <p:cNvSpPr/>
          <p:nvPr/>
        </p:nvSpPr>
        <p:spPr>
          <a:xfrm>
            <a:off x="4250000" y="3990000"/>
            <a:ext cx="2500000" cy="39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无状态门禁，声明代替验证</a:t>
            </a:r>
          </a:p>
        </p:txBody>
      </p:sp>
      <p:sp>
        <p:nvSpPr>
          <p:cNvPr id="122" name="Rectangle 122"/>
          <p:cNvSpPr/>
          <p:nvPr/>
        </p:nvSpPr>
        <p:spPr>
          <a:xfrm>
            <a:off x="4250000" y="4400000"/>
            <a:ext cx="2500000" cy="39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评测与代码版本脱节</a:t>
            </a:r>
          </a:p>
        </p:txBody>
      </p:sp>
      <p:sp>
        <p:nvSpPr>
          <p:cNvPr id="123" name="Rectangle 123"/>
          <p:cNvSpPr/>
          <p:nvPr/>
        </p:nvSpPr>
        <p:spPr>
          <a:xfrm>
            <a:off x="4250000" y="4810000"/>
            <a:ext cx="2500000" cy="39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失败修改无法受控回退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根因分析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00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2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采用</a:t>
            </a:r>
            <a:r>
              <a:rPr lang="zh-CN" altLang="en-US" sz="120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因果矩阵</a:t>
            </a:r>
            <a:r>
              <a:rPr lang="zh-CN" altLang="en-US" sz="12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，以重要度大于 50 为标准，筛选主疑因。</a:t>
            </a:r>
          </a:p>
        </p:txBody>
      </p:sp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300000" y="1350000"/>
          <a:ext cx="11600000" cy="5450000"/>
        </p:xfrm>
        <a:graphic>
          <a:graphicData uri="http://schemas.openxmlformats.org/drawingml/2006/table">
            <a:tbl>
              <a:tblPr/>
              <a:tblGrid>
                <a:gridCol w="4600000"/>
                <a:gridCol w="1500000"/>
                <a:gridCol w="1400000"/>
                <a:gridCol w="1300000"/>
                <a:gridCol w="1300000"/>
                <a:gridCol w="1500000"/>
              </a:tblGrid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评估维度(权重)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影响现有</a:t>
                      </a:r>
                    </a:p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优化流程</a:t>
                      </a:r>
                    </a:p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30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结果可信性</a:t>
                      </a:r>
                    </a:p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/>
                      </a:r>
                    </a:p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30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优化效率</a:t>
                      </a:r>
                    </a:p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/>
                      </a:r>
                    </a:p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30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上手难度</a:t>
                      </a:r>
                    </a:p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/>
                      </a:r>
                    </a:p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10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重要性</a:t>
                      </a:r>
                    </a:p>
                    <a:p>
                      <a:pPr 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(加权总分/10)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远程执行位置混淆、上传与执行路径不一致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76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修改的源码未被实际加载（源码与安装包混用）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70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服务停止不完整、残留进程占用 NPU 显存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68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Agent 无程序校验，以文字声明代替验证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64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评测结果与代码版本脱节，收益无法归因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54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测试 prompt 靠手工拼接，口径不统一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46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环境配置复杂、上手门槛高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38</a:t>
                      </a:r>
                    </a:p>
                  </a:txBody>
                  <a:tcPr marL="36576" marR="36576" marT="18288" marB="18288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根因分析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780000"/>
            <a:ext cx="1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采用</a:t>
            </a:r>
            <a:r>
              <a:rPr lang="zh-CN" altLang="en-US" sz="115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因果图</a:t>
            </a: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，进行根因确认。</a:t>
            </a:r>
          </a:p>
        </p:txBody>
      </p:sp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250000" y="1150000"/>
          <a:ext cx="11500000" cy="5350000"/>
        </p:xfrm>
        <a:graphic>
          <a:graphicData uri="http://schemas.openxmlformats.org/drawingml/2006/table">
            <a:tbl>
              <a:tblPr/>
              <a:tblGrid>
                <a:gridCol w="500000"/>
                <a:gridCol w="1600000"/>
                <a:gridCol w="2100000"/>
                <a:gridCol w="1800000"/>
                <a:gridCol w="3150000"/>
                <a:gridCol w="800000"/>
                <a:gridCol w="1050000"/>
                <a:gridCol w="50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序号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主疑因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确认方法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确认标准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确认结果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责任人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完成时间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要因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</a:tr>
              <a:tr h="10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远程执行位置混淆、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路径不一致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实验调查，真实环境执行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exec/docker-exec 核对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node_ref/scope/cwd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实际节点、作用域、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cwd 与配置一致即通过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实测存在上传与执行路径不一致、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非零退出码仍返回 success；修复并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统一校验退出码与产物后通过验收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许亦铭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2026.09.03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是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修改的源码未被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实际加载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实验调查，preflight 检查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容器包导入来源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能识别源码与安装包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混用即确认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实测成功识别"两个源码目录存在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但实际从 site-packages 导入"，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为典型"改了没生效"问题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许亦铭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2026.09.07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是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1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服务停止不完整、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残留进程占显存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实验调查，fuser 杀端口后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检查进程树与显存占用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目标服务完整停止、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无残留即通过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实测 fuser -k 只杀掉 APIServer，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 个 VLLM::Worker 未被触及，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EngineCore 变孤儿进程占用 NPU 显存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许亦铭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2026.09.05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是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Agent 无程序校验，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声明代替验证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统计分析，复盘长程优化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会话中遗漏测试/越界写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入/提前宣布完成次数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长程会话中出现即确认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复盘确认：随轮次增加会遗漏测试、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偏离工作目录、缺证据宣布完成；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需状态机与产物校验（第 5 轮实施）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许亦铭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2026.09.10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是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测试 prompt 手工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拼接、口径不统一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统计分析/问卷调查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&gt;50% 成员认为需手工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拼接即确认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test.yaml 统一来源 + 脚本生成请求</a:t>
                      </a:r>
                    </a:p>
                    <a:p>
                      <a:pPr algn="l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可覆盖现有测试场景，不构成主要障碍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许亦铭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2026.09.10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否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拟定对策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00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5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通过 </a:t>
            </a:r>
            <a:r>
              <a:rPr lang="zh-CN" altLang="en-US" sz="1350" b="1" dirty="0">
                <a:solidFill>
                  <a:srgbClr val="C00000"/>
                </a:solidFill>
                <a:latin typeface="Times New Roman"/>
                <a:ea typeface="SimSun"/>
                <a:cs typeface="Times New Roman"/>
              </a:rPr>
              <a:t>5W2H</a:t>
            </a:r>
            <a:r>
              <a:rPr lang="zh-CN" altLang="en-US" sz="135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 法针对分析的 </a:t>
            </a:r>
            <a:r>
              <a:rPr lang="zh-CN" altLang="en-US" sz="1350" b="1" dirty="0">
                <a:solidFill>
                  <a:srgbClr val="C00000"/>
                </a:solidFill>
                <a:latin typeface="Times New Roman"/>
                <a:ea typeface="SimSun"/>
                <a:cs typeface="Times New Roman"/>
              </a:rPr>
              <a:t>4 个根因</a:t>
            </a:r>
            <a:r>
              <a:rPr lang="zh-CN" altLang="en-US" sz="135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，拟定对策。</a:t>
            </a:r>
          </a:p>
        </p:txBody>
      </p:sp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300000" y="1250000"/>
          <a:ext cx="11400000" cy="5450000"/>
        </p:xfrm>
        <a:graphic>
          <a:graphicData uri="http://schemas.openxmlformats.org/drawingml/2006/table">
            <a:tbl>
              <a:tblPr/>
              <a:tblGrid>
                <a:gridCol w="500000"/>
                <a:gridCol w="1800000"/>
                <a:gridCol w="1700000"/>
                <a:gridCol w="1950000"/>
                <a:gridCol w="3600000"/>
                <a:gridCol w="800000"/>
                <a:gridCol w="105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序号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主疑因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对策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目标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措施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责任人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完成时间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08080"/>
                    </a:solidFill>
                  </a:tcPr>
                </a:tc>
              </a:tr>
              <a:tr h="125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远程执行位置混淆、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路径不一致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统一远程执行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工作区约定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执行位置可核实，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路径一致、结果可校验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节点配置化（work_dir/docker.work_dir/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env_vars）；exec/docker-exec 默认进入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配置目录；响应携带 node_ref/scope/cwd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许亦铭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2026.09.15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5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源码未被实际加载、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环境错位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环境预检查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preflight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导入失败阻止启动，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包来源有据可查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只读输出容器 Python/PYTHONPATH/包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__file__/导入错误；4B 显式源码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PYTHONPATH 注入开关（默认关闭）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许亦铭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2026.09.25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5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服务停止不完整、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残留进程占显存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服务生命周期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最小方案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服务完整停止，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不影响其他服务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setsid 启动并将 PID 写入容器 vllm.pid；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停止时容器内按进程组清理，宿主机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端口复查兜底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许亦铭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2026.10.10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5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Agent 无程序校验，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声明代替验证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Hook 动作控制 +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状态机门禁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越界写入被拒绝，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状态转换有前置条件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PreToolUse Hook 校验 Write/Edit/Bash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写入边界，插件目录只读；状态机管理</a:t>
                      </a:r>
                    </a:p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Plan-Edit-Verify-Benchmark-Decide 转换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许亦铭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2026.11.30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对策实施：对策一  vllm-ascend-developer 插件与远程执行工作区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00000"/>
            <a:ext cx="6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对策实施过程展示：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00000" y="1150000"/>
            <a:ext cx="68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>
              <a:spcAft>
                <a:spcPts val="3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配置 Plugin 骨架与 marketplace（vllm-ascend-tools），Claude Code 中 /plugin 一键安装启用；</a:t>
            </a:r>
          </a:p>
          <a:p>
            <a:pPr algn="l">
              <a:spcAft>
                <a:spcPts val="3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节点配置化：宿主机 work_dir、容器 docker.work_dir、env_vars 统一进配置文件；</a:t>
            </a:r>
          </a:p>
          <a:p>
            <a:pPr algn="l">
              <a:spcAft>
                <a:spcPts val="3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exec 默认进入宿主机 work_dir，docker-exec 默认进入容器 work_dir 并注入节点环境变量；</a:t>
            </a:r>
          </a:p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每次远程执行响应携带 node_ref / scope / cwd，真实执行位置可核实。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00000" y="3700000"/>
            <a:ext cx="6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对策实施效果确认：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00000" y="4050000"/>
            <a:ext cx="6800000" cy="22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>
              <a:spcAft>
                <a:spcPts val="3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上传与执行路径不一致问题修复，相对传输路径以宿主机 work_dir 为基准；</a:t>
            </a:r>
          </a:p>
          <a:p>
            <a:pPr algn="l">
              <a:spcAft>
                <a:spcPts val="3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env_vars 注入能力提前落地，容器内执行环境可复现；</a:t>
            </a:r>
          </a:p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第 1 轮插件骨架、第 2 轮工作区与执行目录均已完成，</a:t>
            </a:r>
            <a:r>
              <a:rPr lang="zh-CN" altLang="en-US" sz="115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P0-A/P0-B 通过真实环境验收</a:t>
            </a: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（2026.09.03）。</a:t>
            </a:r>
          </a:p>
        </p:txBody>
      </p:sp>
      <p:pic>
        <p:nvPicPr>
          <p:cNvPr id="106" name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0" y="1100000"/>
            <a:ext cx="4100000" cy="2219913"/>
          </a:xfrm>
          <a:prstGeom prst="rect">
            <a:avLst/>
          </a:prstGeom>
        </p:spPr>
      </p:pic>
      <p:sp>
        <p:nvSpPr>
          <p:cNvPr id="107" name="TextBox 107"/>
          <p:cNvSpPr txBox="1"/>
          <p:nvPr/>
        </p:nvSpPr>
        <p:spPr>
          <a:xfrm>
            <a:off x="7600000" y="3350000"/>
            <a:ext cx="41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000" dirty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marketplace 一键安装 vllm-ascend-developer</a:t>
            </a:r>
          </a:p>
        </p:txBody>
      </p:sp>
      <p:pic>
        <p:nvPicPr>
          <p:cNvPr id="108" name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000" y="3850000"/>
            <a:ext cx="4100000" cy="1207982"/>
          </a:xfrm>
          <a:prstGeom prst="rect">
            <a:avLst/>
          </a:prstGeom>
        </p:spPr>
      </p:pic>
      <p:sp>
        <p:nvSpPr>
          <p:cNvPr id="109" name="TextBox 109"/>
          <p:cNvSpPr txBox="1"/>
          <p:nvPr/>
        </p:nvSpPr>
        <p:spPr>
          <a:xfrm>
            <a:off x="7600000" y="5100000"/>
            <a:ext cx="41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000" dirty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插件安装后 enabled，能力即刻可用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对策实施：对策二  写入边界 Hook 与统一运行目录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00000"/>
            <a:ext cx="6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对策实施过程展示：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00000" y="1150000"/>
            <a:ext cx="6600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>
              <a:spcAft>
                <a:spcPts val="3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Skill 级 PreToolUse Hook（path_policy）：校验本地 Write / Edit / Bash 写入边界；</a:t>
            </a:r>
          </a:p>
          <a:p>
            <a:pPr algn="l">
              <a:spcAft>
                <a:spcPts val="3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拦截 tee、重定向等绕过写入，路径规范化并处理符号链接；</a:t>
            </a:r>
          </a:p>
          <a:p>
            <a:pPr algn="l">
              <a:spcAft>
                <a:spcPts val="3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插件安装与缓存目录保持只读，运行产物统一进入项目共享 .dev/ 目录；</a:t>
            </a:r>
          </a:p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bootstrap 仅在首次使用或目录缺失时补齐 .dev/config、runtime、run 结构。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00000" y="3800000"/>
            <a:ext cx="6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对策实施效果确认：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00000" y="4150000"/>
            <a:ext cx="66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>
              <a:spcAft>
                <a:spcPts val="3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越界 Write/Edit、重定向及下载均被拒绝，且目标位置无新增写入（验收 T01-T04）；</a:t>
            </a:r>
          </a:p>
          <a:p>
            <a:pPr algn="l">
              <a:spcAft>
                <a:spcPts val="3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Hook 曾拒绝 python3 直调问题已修复，合法脚本入口不受影响；</a:t>
            </a:r>
          </a:p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配置与产物集中管理，实验与轮次以 experiment_id / iteration_id 区分，</a:t>
            </a:r>
            <a:r>
              <a:rPr lang="zh-CN" altLang="en-US" sz="115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过程可追溯</a:t>
            </a: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。</a:t>
            </a:r>
          </a:p>
        </p:txBody>
      </p:sp>
      <p:pic>
        <p:nvPicPr>
          <p:cNvPr id="106" name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000" y="1100000"/>
            <a:ext cx="4400000" cy="1641658"/>
          </a:xfrm>
          <a:prstGeom prst="rect">
            <a:avLst/>
          </a:prstGeom>
        </p:spPr>
      </p:pic>
      <p:sp>
        <p:nvSpPr>
          <p:cNvPr id="107" name="TextBox 107"/>
          <p:cNvSpPr txBox="1"/>
          <p:nvPr/>
        </p:nvSpPr>
        <p:spPr>
          <a:xfrm>
            <a:off x="7400000" y="2520000"/>
            <a:ext cx="4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000" dirty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第二轮：path_policy 校验与 bootstrap 目录就绪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7400000" y="3100000"/>
            <a:ext cx="4400000" cy="320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t"/>
          <a:lstStyle/>
          <a:p>
            <a:pPr algn="l">
              <a:spcAft>
                <a:spcPts val="400"/>
              </a:spcAft>
            </a:pPr>
            <a:r>
              <a:rPr lang="zh-CN" altLang="en-US" sz="11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.dev/ 运行目录约定</a:t>
            </a:r>
          </a:p>
          <a:p>
            <a:pPr algn="l">
              <a:spcAft>
                <a:spcPts val="300"/>
              </a:spcAft>
            </a:pPr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├─ config/    节点与工作流配置</a:t>
            </a:r>
          </a:p>
          <a:p>
            <a:pPr algn="l">
              <a:spcAft>
                <a:spcPts val="300"/>
              </a:spcAft>
            </a:pPr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├─ runtime/   SSH daemon 等运行状态</a:t>
            </a:r>
          </a:p>
          <a:p>
            <a:pPr algn="l">
              <a:spcAft>
                <a:spcPts val="300"/>
              </a:spcAft>
            </a:pPr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└─ run/       generated / downloads /</a:t>
            </a:r>
          </a:p>
          <a:p>
            <a:pPr algn="l">
              <a:spcAft>
                <a:spcPts val="600"/>
              </a:spcAft>
            </a:pPr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              logs / records 产物与记录</a:t>
            </a:r>
          </a:p>
          <a:p>
            <a:pPr algn="l">
              <a:spcAft>
                <a:spcPts val="300"/>
              </a:spcAft>
            </a:pPr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运行目录通过忽略规则与插件源码隔离；</a:t>
            </a:r>
          </a:p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同一时刻仅允许一个控制进程推进写操作。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对策实施：对策三  服务可靠停止（杀进程问题修复）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0000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问题复盘与实施过程：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00000" y="1150000"/>
            <a:ext cx="6400000" cy="31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>
              <a:spcAft>
                <a:spcPts val="350"/>
              </a:spcAft>
            </a:pPr>
            <a:r>
              <a:rPr lang="zh-CN" altLang="en-US" sz="115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事故：</a:t>
            </a: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fuser -k 8088/tcp 只杀掉持端口的 APIServer，3 个 VLLM::Worker 完全没被触及，EngineCore 变孤儿进程继续占用 NPU 显存；</a:t>
            </a:r>
          </a:p>
          <a:p>
            <a:pPr algn="l">
              <a:spcAft>
                <a:spcPts val="350"/>
              </a:spcAft>
            </a:pPr>
            <a:r>
              <a:rPr lang="zh-CN" altLang="en-US" sz="115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波折：</a:t>
            </a: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2026.09.05 大规模生命周期方案真实验收失败（内联 Shell 自匹配误报），完整回滚——15 个相关文件与父提交完全一致，回滚后 54 项测试通过；</a:t>
            </a:r>
          </a:p>
          <a:p>
            <a:pPr algn="l">
              <a:spcAft>
                <a:spcPts val="350"/>
              </a:spcAft>
            </a:pPr>
            <a:r>
              <a:rPr lang="zh-CN" altLang="en-US" sz="115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最小方案：</a:t>
            </a: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setsid 启动并将 PID 写入容器 vllm.pid；停止时容器内按进程组清理，宿主机 fuser 端口复查兜底；</a:t>
            </a:r>
          </a:p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防护：PID 归属无法确认时停止自动清理，避免误杀他人服务。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00000" y="440000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对策实施效果确认：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00000" y="4750000"/>
            <a:ext cx="64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>
              <a:spcAft>
                <a:spcPts val="3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2026.09.07 standalone 最小方案</a:t>
            </a:r>
            <a:r>
              <a:rPr lang="zh-CN" altLang="en-US" sz="115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通过真实环境验收</a:t>
            </a: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：API 退出后进程组无残留，端口复查确认释放；</a:t>
            </a:r>
          </a:p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目标服务完整停止，其他服务不受影响；PD 分离场景不套用未经验证的停止规则。</a:t>
            </a:r>
          </a:p>
        </p:txBody>
      </p:sp>
      <p:pic>
        <p:nvPicPr>
          <p:cNvPr id="106" name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050000"/>
            <a:ext cx="4600000" cy="3828977"/>
          </a:xfrm>
          <a:prstGeom prst="rect">
            <a:avLst/>
          </a:prstGeom>
        </p:spPr>
      </p:pic>
      <p:sp>
        <p:nvSpPr>
          <p:cNvPr id="107" name="TextBox 107"/>
          <p:cNvSpPr txBox="1"/>
          <p:nvPr/>
        </p:nvSpPr>
        <p:spPr>
          <a:xfrm>
            <a:off x="7200000" y="5000000"/>
            <a:ext cx="4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000" dirty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修复后：服务停止流程完整执行、进程无残留</a:t>
            </a:r>
          </a:p>
        </p:txBody>
      </p:sp>
      <p:pic>
        <p:nvPicPr>
          <p:cNvPr id="108" name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0" y="5400000"/>
            <a:ext cx="4200000" cy="1090829"/>
          </a:xfrm>
          <a:prstGeom prst="rect">
            <a:avLst/>
          </a:prstGeom>
        </p:spPr>
      </p:pic>
      <p:sp>
        <p:nvSpPr>
          <p:cNvPr id="109" name="TextBox 109"/>
          <p:cNvSpPr txBox="1"/>
          <p:nvPr/>
        </p:nvSpPr>
        <p:spPr>
          <a:xfrm>
            <a:off x="7200000" y="6510000"/>
            <a:ext cx="4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000" dirty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彻底停止：容器进程组清理 + 宿主机端口复查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对策实施：对策四  环境预检查 preflight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00000"/>
            <a:ext cx="6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对策实施过程展示：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00000" y="1150000"/>
            <a:ext cx="6600000" cy="26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>
              <a:spcAft>
                <a:spcPts val="3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4A 只读 preflight：输出容器 Python、版本、PYTHONPATH、sys.path、vLLM 与 vLLM-Ascend 包 __file__ 及导入错误；</a:t>
            </a:r>
          </a:p>
          <a:p>
            <a:pPr algn="l">
              <a:spcAft>
                <a:spcPts val="350"/>
              </a:spcAft>
            </a:pP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导入失败时阻止启动服务；对源码路径不匹配保留证据，不自动修改环境；</a:t>
            </a:r>
          </a:p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4B 显式 source-pythonpath 开关（默认关闭）：启用时将容器源码路径置于原 PYTHONPATH 之前；仅 preflight 与启动模板启用，停止/日志/健康检查不启用。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00000" y="3900000"/>
            <a:ext cx="6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对策实施效果确认：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00000" y="4250000"/>
            <a:ext cx="6600000" cy="2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>
              <a:spcAft>
                <a:spcPts val="350"/>
              </a:spcAft>
            </a:pPr>
            <a:r>
              <a:rPr lang="zh-CN" altLang="en-US" sz="115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· 4A 本地 61 项测试通过</a:t>
            </a: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（1 跳过、3 预期失败），真实验收成功识别"两个源码目录存在但实际从 site-packages 导入"；</a:t>
            </a:r>
          </a:p>
          <a:p>
            <a:pPr algn="l">
              <a:spcAft>
                <a:spcPts val="350"/>
              </a:spcAft>
            </a:pPr>
            <a:r>
              <a:rPr lang="zh-CN" altLang="en-US" sz="115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· 4B 本地 65 项测试通过</a:t>
            </a:r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（1 跳过、2 预期失败），已完成本地回归，待真实环境验收；</a:t>
            </a:r>
          </a:p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"改了源码没生效"类问题从靠人肉发现变为启动前自动拦截。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7400000" y="1100000"/>
            <a:ext cx="4300000" cy="250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t"/>
          <a:lstStyle/>
          <a:p>
            <a:pPr algn="l">
              <a:spcAft>
                <a:spcPts val="400"/>
              </a:spcAft>
            </a:pPr>
            <a:r>
              <a:rPr lang="zh-CN" altLang="en-US" sz="11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preflight 输出示例（证据化）</a:t>
            </a:r>
          </a:p>
          <a:p>
            <a:pPr algn="l">
              <a:spcAft>
                <a:spcPts val="300"/>
              </a:spcAft>
            </a:pPr>
            <a:r>
              <a:rPr lang="zh-CN" altLang="en-US" sz="10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Python: /usr/bin/python3.11 (3.11.x)</a:t>
            </a:r>
          </a:p>
          <a:p>
            <a:pPr algn="l">
              <a:spcAft>
                <a:spcPts val="300"/>
              </a:spcAft>
            </a:pPr>
            <a:r>
              <a:rPr lang="zh-CN" altLang="en-US" sz="10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PYTHONPATH: /workspace/vllm:...</a:t>
            </a:r>
          </a:p>
          <a:p>
            <a:pPr algn="l">
              <a:spcAft>
                <a:spcPts val="300"/>
              </a:spcAft>
            </a:pPr>
            <a:r>
              <a:rPr lang="zh-CN" altLang="en-US" sz="10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vllm __file__: /usr/local/lib/python3.11/</a:t>
            </a:r>
          </a:p>
          <a:p>
            <a:pPr algn="l">
              <a:spcAft>
                <a:spcPts val="300"/>
              </a:spcAft>
            </a:pPr>
            <a:r>
              <a:rPr lang="zh-CN" altLang="en-US" sz="1000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  site-packages/vllm/__init__.py  ← 安装包</a:t>
            </a:r>
          </a:p>
          <a:p>
            <a:pPr algn="l">
              <a:spcAft>
                <a:spcPts val="600"/>
              </a:spcAft>
            </a:pPr>
            <a:r>
              <a:rPr lang="zh-CN" altLang="en-US" sz="10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vllm_ascend __file__: .../site-packages/...</a:t>
            </a:r>
          </a:p>
          <a:p>
            <a:pPr algn="l">
              <a:spcAft>
                <a:spcPts val="300"/>
              </a:spcAft>
            </a:pPr>
            <a:r>
              <a:rPr lang="zh-CN" altLang="en-US" sz="105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结论：源码目录存在但未被加载，</a:t>
            </a:r>
          </a:p>
          <a:p>
            <a:pPr algn="l"/>
            <a:r>
              <a:rPr lang="zh-CN" altLang="en-US" sz="105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阻止启动并输出路径证据</a:t>
            </a:r>
          </a:p>
        </p:txBody>
      </p:sp>
      <p:sp>
        <p:nvSpPr>
          <p:cNvPr id="107" name="Rectangle 107"/>
          <p:cNvSpPr/>
          <p:nvPr/>
        </p:nvSpPr>
        <p:spPr>
          <a:xfrm>
            <a:off x="7400000" y="3900000"/>
            <a:ext cx="4300000" cy="240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t"/>
          <a:lstStyle/>
          <a:p>
            <a:pPr algn="l">
              <a:spcAft>
                <a:spcPts val="400"/>
              </a:spcAft>
            </a:pPr>
            <a:r>
              <a:rPr lang="zh-CN" altLang="en-US" sz="11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设计原则（沉淀为组内规范）</a:t>
            </a:r>
          </a:p>
          <a:p>
            <a:pPr algn="l">
              <a:spcAft>
                <a:spcPts val="35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不以模型自述替代执行结果；</a:t>
            </a:r>
          </a:p>
          <a:p>
            <a:pPr algn="l">
              <a:spcAft>
                <a:spcPts val="35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调用通道成功 ≠ 业务命令成功，必须同时校验退出码与预期产物；</a:t>
            </a:r>
          </a:p>
          <a:p>
            <a:pPr algn="l">
              <a:spcAft>
                <a:spcPts val="35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预检查证据不替代实际服务进程的最终导入证据；</a:t>
            </a:r>
          </a:p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Keep Simple and Available：不增加尚无真实需求支撑的命令层。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效果确认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00000"/>
            <a:ext cx="112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>
              <a:spcAft>
                <a:spcPts val="300"/>
              </a:spcAft>
            </a:pPr>
            <a:r>
              <a:rPr lang="zh-CN" altLang="en-US" sz="135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目标达成总结：</a:t>
            </a:r>
            <a:r>
              <a:rPr lang="zh-CN" altLang="en-US" sz="12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1、远程执行从"位置不明、结果靠猜"到 node_ref/scope/cwd 可核实、退出码与产物双重校验；</a:t>
            </a:r>
          </a:p>
          <a:p>
            <a:pPr algn="l">
              <a:spcAft>
                <a:spcPts val="300"/>
              </a:spcAft>
            </a:pPr>
            <a:r>
              <a:rPr lang="zh-CN" altLang="en-US" sz="12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2、服务启停从"杀端口残留 Worker"到进程组清理 + 端口复查，显存可靠释放；</a:t>
            </a:r>
          </a:p>
          <a:p>
            <a:pPr algn="l"/>
            <a:r>
              <a:rPr lang="zh-CN" altLang="en-US" sz="12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3、源码加载从"改了没生效难察觉"到 preflight 启动前自动识别并拦截。</a:t>
            </a:r>
          </a:p>
        </p:txBody>
      </p:sp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400000" y="2350000"/>
          <a:ext cx="11400000" cy="4400000"/>
        </p:xfrm>
        <a:graphic>
          <a:graphicData uri="http://schemas.openxmlformats.org/drawingml/2006/table">
            <a:tbl>
              <a:tblPr/>
              <a:tblGrid>
                <a:gridCol w="1900000"/>
                <a:gridCol w="3700000"/>
                <a:gridCol w="2800000"/>
                <a:gridCol w="3000000"/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改进阶段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关键内容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验证/验收结果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证据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第 1 轮 插件骨架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Plugin 骨架 + marketplace 一键安装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已完成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插件校验、远程安装与命令发现记录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第 2 轮 工作区与执行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写入边界 Hook、exec/docker-exec 工作目录与 env_vars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通过真实环境验收（09.03）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本地边界与远程路径验证记录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第 3 轮 服务停止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setsid + vllm.pid + 进程组清理 + 端口复查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standalone 最小方案通过真实验收（09.07）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回滚后 54 项测试通过（1 跳过、3 预期失败）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第 4 轮 4A 预检查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只读 preflight：Python/包来源/导入错误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61 项测试通过，通过真实环境验收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识别"源码存在但实际从 site-packages 导入"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第 4 轮 4B 源码注入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显式 source-pythonpath 开关（默认关闭）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65 项测试通过，待真实环境验收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本地回归结果及待补真实运行证据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效果确认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400000" y="950000"/>
            <a:ext cx="5300000" cy="480000"/>
          </a:xfrm>
          <a:prstGeom prst="rect">
            <a:avLst/>
          </a:prstGeom>
          <a:solidFill>
            <a:srgbClr val="C0C0C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改进前：人盯终端，步步手工核对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400000" y="1550000"/>
            <a:ext cx="5300000" cy="62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SSH 逐台登录，手动同步代码、配置环境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00000" y="2310000"/>
            <a:ext cx="5300000" cy="62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改完代码无法确认远程加载的是哪一份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400000" y="3070000"/>
            <a:ext cx="5300000" cy="62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杀端口即"停止"，Worker 残留占用显存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400000" y="3830000"/>
            <a:ext cx="5300000" cy="62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执行成功与否看通道返回值，失败被漏掉</a:t>
            </a:r>
          </a:p>
        </p:txBody>
      </p:sp>
      <p:sp>
        <p:nvSpPr>
          <p:cNvPr id="107" name="Rectangle 107"/>
          <p:cNvSpPr/>
          <p:nvPr/>
        </p:nvSpPr>
        <p:spPr>
          <a:xfrm>
            <a:off x="400000" y="4590000"/>
            <a:ext cx="5300000" cy="62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80808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优化经验散在对话里，换人换任务就丢失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5950000" y="3200000"/>
            <a:ext cx="600000" cy="900000"/>
          </a:xfrm>
          <a:prstGeom prst="rightArrow">
            <a:avLst/>
          </a:prstGeom>
          <a:solidFill>
            <a:srgbClr val="99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9" name="Rectangle 109"/>
          <p:cNvSpPr/>
          <p:nvPr/>
        </p:nvSpPr>
        <p:spPr>
          <a:xfrm>
            <a:off x="6850000" y="950000"/>
            <a:ext cx="4940000" cy="480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改进后：一句话指挥，程序兜底校验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6850000" y="1550000"/>
            <a:ext cx="4940000" cy="620000"/>
          </a:xfrm>
          <a:prstGeom prst="rect">
            <a:avLst/>
          </a:prstGeom>
          <a:solidFill>
            <a:srgbClr val="FCE4E4"/>
          </a:solidFill>
          <a:ln w="12700" cap="flat">
            <a:solidFill>
              <a:srgbClr val="99000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Agent 技能代劳：执行位置 node_ref/scope/cwd 可核实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6850000" y="2310000"/>
            <a:ext cx="4940000" cy="620000"/>
          </a:xfrm>
          <a:prstGeom prst="rect">
            <a:avLst/>
          </a:prstGeom>
          <a:solidFill>
            <a:srgbClr val="FCE4E4"/>
          </a:solidFill>
          <a:ln w="12700" cap="flat">
            <a:solidFill>
              <a:srgbClr val="99000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preflight 启动前给出包来源证据，"改了没生效"被拦截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6850000" y="3070000"/>
            <a:ext cx="4940000" cy="620000"/>
          </a:xfrm>
          <a:prstGeom prst="rect">
            <a:avLst/>
          </a:prstGeom>
          <a:solidFill>
            <a:srgbClr val="FCE4E4"/>
          </a:solidFill>
          <a:ln w="12700" cap="flat">
            <a:solidFill>
              <a:srgbClr val="99000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setsid + 进程组清理 + 端口复查，服务停得干净</a:t>
            </a:r>
          </a:p>
        </p:txBody>
      </p:sp>
      <p:sp>
        <p:nvSpPr>
          <p:cNvPr id="113" name="Rectangle 113"/>
          <p:cNvSpPr/>
          <p:nvPr/>
        </p:nvSpPr>
        <p:spPr>
          <a:xfrm>
            <a:off x="6850000" y="3830000"/>
            <a:ext cx="4940000" cy="620000"/>
          </a:xfrm>
          <a:prstGeom prst="rect">
            <a:avLst/>
          </a:prstGeom>
          <a:solidFill>
            <a:srgbClr val="FCE4E4"/>
          </a:solidFill>
          <a:ln w="12700" cap="flat">
            <a:solidFill>
              <a:srgbClr val="99000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退出码 + 预期产物双重校验，失败无法伪装成成功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6850000" y="4590000"/>
            <a:ext cx="4940000" cy="620000"/>
          </a:xfrm>
          <a:prstGeom prst="rect">
            <a:avLst/>
          </a:prstGeom>
          <a:solidFill>
            <a:srgbClr val="FCE4E4"/>
          </a:solidFill>
          <a:ln w="12700" cap="flat">
            <a:solidFill>
              <a:srgbClr val="99000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配置、计划、评测记录统一沉淀 .dev/，可追溯可复用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00000" y="5600000"/>
            <a:ext cx="114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25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改进效果总结：</a:t>
            </a:r>
            <a:r>
              <a:rPr lang="zh-CN" altLang="en-US" sz="12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环境检查、服务启停、测试执行从"每台机器每次迭代手工重复"变为自然语言一句话完成；每轮优化证据链完整（计划-修改-版本-评测-决策），</a:t>
            </a:r>
            <a:r>
              <a:rPr lang="zh-CN" altLang="en-US" sz="120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无效优化与误判收益无处遁形</a:t>
            </a:r>
            <a:r>
              <a:rPr lang="zh-CN" altLang="en-US" sz="12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成果标准化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400000" y="900000"/>
            <a:ext cx="5600000" cy="420000"/>
          </a:xfrm>
          <a:prstGeom prst="rect">
            <a:avLst/>
          </a:prstGeom>
          <a:solidFill>
            <a:srgbClr val="C0C0C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文档化沉淀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400000" y="1320000"/>
            <a:ext cx="5600000" cy="240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t"/>
          <a:lstStyle/>
          <a:p>
            <a:pPr algn="l">
              <a:spcAft>
                <a:spcPts val="40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《AI 算法设计说明书》：策略生成、接受规则、状态机与异常恢复设计；</a:t>
            </a:r>
          </a:p>
          <a:p>
            <a:pPr algn="l">
              <a:spcAft>
                <a:spcPts val="40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《软件设计说明书》：模块职责、测试矩阵（T01-T16、S01-S06）与验收标准；</a:t>
            </a:r>
          </a:p>
          <a:p>
            <a:pPr algn="l">
              <a:spcAft>
                <a:spcPts val="40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《迭代计划》+《迭代日志》：十轮改进计划、决策记录与逐轮验收证据；</a:t>
            </a:r>
          </a:p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使用规范 checklist：test.yaml 为测试唯一来源、不以模型自述替代执行结果、失败先回退再重试。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00000" y="3950000"/>
            <a:ext cx="5600000" cy="420000"/>
          </a:xfrm>
          <a:prstGeom prst="rect">
            <a:avLst/>
          </a:prstGeom>
          <a:solidFill>
            <a:srgbClr val="C0C0C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流程固化为插件能力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400000" y="4370000"/>
            <a:ext cx="5600000" cy="220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t"/>
          <a:lstStyle/>
          <a:p>
            <a:pPr algn="l">
              <a:spcAft>
                <a:spcPts val="40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改进成果不以文档为终点：工作区约定、preflight、服务生命周期均固化为 vllm-ascend-developer 插件技能；</a:t>
            </a:r>
          </a:p>
          <a:p>
            <a:pPr algn="l">
              <a:spcAft>
                <a:spcPts val="40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/plugin 一键安装，新成员无需背命令即可按统一口径操作远程环境；</a:t>
            </a:r>
          </a:p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· Hook 与路径策略随插件分发，"规范"由程序强制执行而非靠自觉。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6400000" y="900000"/>
            <a:ext cx="5400000" cy="420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在团队内推广</a:t>
            </a:r>
          </a:p>
        </p:txBody>
      </p:sp>
      <p:sp>
        <p:nvSpPr>
          <p:cNvPr id="107" name="Rectangle 107"/>
          <p:cNvSpPr/>
          <p:nvPr/>
        </p:nvSpPr>
        <p:spPr>
          <a:xfrm>
            <a:off x="6400000" y="1320000"/>
            <a:ext cx="5400000" cy="550000"/>
          </a:xfrm>
          <a:prstGeom prst="rect">
            <a:avLst/>
          </a:prstGeom>
          <a:solidFill>
            <a:srgbClr val="FCE4E4"/>
          </a:solidFill>
          <a:ln w="12700" cap="flat">
            <a:solidFill>
              <a:srgbClr val="99000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① 一套插件，全组复用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6400000" y="1870000"/>
            <a:ext cx="5400000" cy="110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marketplace 添加 vllm-ascend-tools 后即可获得与圈内一致的远程优化能力</a:t>
            </a:r>
          </a:p>
        </p:txBody>
      </p:sp>
      <p:sp>
        <p:nvSpPr>
          <p:cNvPr id="109" name="Rectangle 109"/>
          <p:cNvSpPr/>
          <p:nvPr/>
        </p:nvSpPr>
        <p:spPr>
          <a:xfrm>
            <a:off x="6400000" y="3070000"/>
            <a:ext cx="5400000" cy="550000"/>
          </a:xfrm>
          <a:prstGeom prst="rect">
            <a:avLst/>
          </a:prstGeom>
          <a:solidFill>
            <a:srgbClr val="FCE4E4"/>
          </a:solidFill>
          <a:ln w="12700" cap="flat">
            <a:solidFill>
              <a:srgbClr val="99000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② 场景即用即走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6400000" y="3620000"/>
            <a:ext cx="5400000" cy="110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单机、PD 分离部署与 aisbench 评测场景均可复用同一套工作区与预检查约定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6400000" y="4820000"/>
            <a:ext cx="5400000" cy="550000"/>
          </a:xfrm>
          <a:prstGeom prst="rect">
            <a:avLst/>
          </a:prstGeom>
          <a:solidFill>
            <a:srgbClr val="FCE4E4"/>
          </a:solidFill>
          <a:ln w="12700" cap="flat">
            <a:solidFill>
              <a:srgbClr val="990000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③ 持续演进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6400000" y="5370000"/>
            <a:ext cx="5400000" cy="110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第 5-9 轮按计划在基础闭环稳定后单独设计和验收，能力随版本迭代扩展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成员能力评估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00000" y="820000"/>
            <a:ext cx="11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2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使用</a:t>
            </a:r>
            <a:r>
              <a:rPr lang="zh-CN" altLang="en-US" sz="1250" b="1" dirty="0">
                <a:solidFill>
                  <a:srgbClr val="990000"/>
                </a:solidFill>
                <a:latin typeface="Times New Roman"/>
                <a:ea typeface="SimSun"/>
                <a:cs typeface="Times New Roman"/>
              </a:rPr>
              <a:t>雷达图</a:t>
            </a:r>
            <a:r>
              <a:rPr lang="zh-CN" altLang="en-US" sz="12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对改进前后圈员的能力进行评估：</a:t>
            </a:r>
          </a:p>
        </p:txBody>
      </p:sp>
      <p:sp>
        <p:nvSpPr>
          <p:cNvPr id="103" name="Freeform 103"/>
          <p:cNvSpPr/>
          <p:nvPr/>
        </p:nvSpPr>
        <p:spPr>
          <a:xfrm>
            <a:off x="2819577" y="3600000"/>
            <a:ext cx="760845" cy="723606"/>
          </a:xfrm>
          <a:custGeom>
            <a:avLst/>
            <a:gdLst/>
            <a:ahLst/>
            <a:cxnLst/>
            <a:rect l="l" t="t" r="r" b="b"/>
            <a:pathLst>
              <a:path w="760845" h="723606">
                <a:moveTo>
                  <a:pt x="380423" y="0"/>
                </a:moveTo>
                <a:lnTo>
                  <a:pt x="760845" y="276393"/>
                </a:lnTo>
                <a:lnTo>
                  <a:pt x="615537" y="723606"/>
                </a:lnTo>
                <a:lnTo>
                  <a:pt x="145308" y="723606"/>
                </a:lnTo>
                <a:lnTo>
                  <a:pt x="0" y="276393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04" name="Freeform 104"/>
          <p:cNvSpPr/>
          <p:nvPr/>
        </p:nvSpPr>
        <p:spPr>
          <a:xfrm>
            <a:off x="2439154" y="3200000"/>
            <a:ext cx="1521691" cy="1447213"/>
          </a:xfrm>
          <a:custGeom>
            <a:avLst/>
            <a:gdLst/>
            <a:ahLst/>
            <a:cxnLst/>
            <a:rect l="l" t="t" r="r" b="b"/>
            <a:pathLst>
              <a:path w="1521691" h="1447213">
                <a:moveTo>
                  <a:pt x="760846" y="0"/>
                </a:moveTo>
                <a:lnTo>
                  <a:pt x="1521691" y="552786"/>
                </a:lnTo>
                <a:lnTo>
                  <a:pt x="1231074" y="1447213"/>
                </a:lnTo>
                <a:lnTo>
                  <a:pt x="290617" y="1447213"/>
                </a:lnTo>
                <a:lnTo>
                  <a:pt x="0" y="552786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05" name="Freeform 105"/>
          <p:cNvSpPr/>
          <p:nvPr/>
        </p:nvSpPr>
        <p:spPr>
          <a:xfrm>
            <a:off x="2058732" y="2800000"/>
            <a:ext cx="2282535" cy="2170820"/>
          </a:xfrm>
          <a:custGeom>
            <a:avLst/>
            <a:gdLst/>
            <a:ahLst/>
            <a:cxnLst/>
            <a:rect l="l" t="t" r="r" b="b"/>
            <a:pathLst>
              <a:path w="2282535" h="2170820">
                <a:moveTo>
                  <a:pt x="1141268" y="0"/>
                </a:moveTo>
                <a:lnTo>
                  <a:pt x="2282535" y="829179"/>
                </a:lnTo>
                <a:lnTo>
                  <a:pt x="1846610" y="2170820"/>
                </a:lnTo>
                <a:lnTo>
                  <a:pt x="435925" y="2170820"/>
                </a:lnTo>
                <a:lnTo>
                  <a:pt x="0" y="829179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06" name="Freeform 106"/>
          <p:cNvSpPr/>
          <p:nvPr/>
        </p:nvSpPr>
        <p:spPr>
          <a:xfrm>
            <a:off x="1678309" y="2400000"/>
            <a:ext cx="3043381" cy="2894427"/>
          </a:xfrm>
          <a:custGeom>
            <a:avLst/>
            <a:gdLst/>
            <a:ahLst/>
            <a:cxnLst/>
            <a:rect l="l" t="t" r="r" b="b"/>
            <a:pathLst>
              <a:path w="3043381" h="2894427">
                <a:moveTo>
                  <a:pt x="1521691" y="0"/>
                </a:moveTo>
                <a:lnTo>
                  <a:pt x="3043381" y="1105572"/>
                </a:lnTo>
                <a:lnTo>
                  <a:pt x="2462147" y="2894427"/>
                </a:lnTo>
                <a:lnTo>
                  <a:pt x="581234" y="2894427"/>
                </a:lnTo>
                <a:lnTo>
                  <a:pt x="0" y="1105572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07" name="Freeform 107"/>
          <p:cNvSpPr/>
          <p:nvPr/>
        </p:nvSpPr>
        <p:spPr>
          <a:xfrm>
            <a:off x="1297886" y="2000000"/>
            <a:ext cx="3804227" cy="3618033"/>
          </a:xfrm>
          <a:custGeom>
            <a:avLst/>
            <a:gdLst/>
            <a:ahLst/>
            <a:cxnLst/>
            <a:rect l="l" t="t" r="r" b="b"/>
            <a:pathLst>
              <a:path w="3804227" h="3618033">
                <a:moveTo>
                  <a:pt x="1902114" y="0"/>
                </a:moveTo>
                <a:lnTo>
                  <a:pt x="3804227" y="1381966"/>
                </a:lnTo>
                <a:lnTo>
                  <a:pt x="3077684" y="3618033"/>
                </a:lnTo>
                <a:lnTo>
                  <a:pt x="726543" y="3618033"/>
                </a:lnTo>
                <a:lnTo>
                  <a:pt x="0" y="1381966"/>
                </a:lnTo>
                <a:close/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08" name="Line 108"/>
          <p:cNvSpPr/>
          <p:nvPr/>
        </p:nvSpPr>
        <p:spPr>
          <a:xfrm flipV="1">
            <a:off x="3200000" y="2000000"/>
            <a:ext cx="0" cy="2000000"/>
          </a:xfrm>
          <a:prstGeom prst="line">
            <a:avLst/>
          </a:prstGeom>
          <a:ln w="9525" cap="flat">
            <a:solidFill>
              <a:srgbClr val="BFBFBF"/>
            </a:solidFill>
          </a:ln>
        </p:spPr>
      </p:sp>
      <p:sp>
        <p:nvSpPr>
          <p:cNvPr id="109" name="Line 109"/>
          <p:cNvSpPr/>
          <p:nvPr/>
        </p:nvSpPr>
        <p:spPr>
          <a:xfrm>
            <a:off x="3200000" y="3381966"/>
            <a:ext cx="1902113" cy="618034"/>
          </a:xfrm>
          <a:prstGeom prst="line">
            <a:avLst/>
          </a:prstGeom>
          <a:ln w="9525" cap="flat">
            <a:solidFill>
              <a:srgbClr val="BFBFBF"/>
            </a:solidFill>
          </a:ln>
        </p:spPr>
      </p:sp>
      <p:sp>
        <p:nvSpPr>
          <p:cNvPr id="110" name="Line 110"/>
          <p:cNvSpPr/>
          <p:nvPr/>
        </p:nvSpPr>
        <p:spPr>
          <a:xfrm flipV="1">
            <a:off x="3200000" y="4000000"/>
            <a:ext cx="1175570" cy="1618033"/>
          </a:xfrm>
          <a:prstGeom prst="line">
            <a:avLst/>
          </a:prstGeom>
          <a:ln w="9525" cap="flat">
            <a:solidFill>
              <a:srgbClr val="BFBFBF"/>
            </a:solidFill>
          </a:ln>
        </p:spPr>
      </p:sp>
      <p:sp>
        <p:nvSpPr>
          <p:cNvPr id="111" name="Line 111"/>
          <p:cNvSpPr/>
          <p:nvPr/>
        </p:nvSpPr>
        <p:spPr>
          <a:xfrm>
            <a:off x="2024429" y="4000000"/>
            <a:ext cx="1175571" cy="1618033"/>
          </a:xfrm>
          <a:prstGeom prst="line">
            <a:avLst/>
          </a:prstGeom>
          <a:ln w="9525" cap="flat">
            <a:solidFill>
              <a:srgbClr val="BFBFBF"/>
            </a:solidFill>
          </a:ln>
        </p:spPr>
      </p:sp>
      <p:sp>
        <p:nvSpPr>
          <p:cNvPr id="112" name="Line 112"/>
          <p:cNvSpPr/>
          <p:nvPr/>
        </p:nvSpPr>
        <p:spPr>
          <a:xfrm flipV="1">
            <a:off x="1297886" y="3381966"/>
            <a:ext cx="1902114" cy="618034"/>
          </a:xfrm>
          <a:prstGeom prst="line">
            <a:avLst/>
          </a:prstGeom>
          <a:ln w="9525" cap="flat">
            <a:solidFill>
              <a:srgbClr val="BFBFBF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2500000" y="1400000"/>
            <a:ext cx="1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QCC运用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820577" y="3085998"/>
            <a:ext cx="1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交付开发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3934196" y="5814001"/>
            <a:ext cx="1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问题分析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065803" y="5814001"/>
            <a:ext cx="1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任务推动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79422" y="3085998"/>
            <a:ext cx="1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团队协作</a:t>
            </a:r>
          </a:p>
        </p:txBody>
      </p:sp>
      <p:sp>
        <p:nvSpPr>
          <p:cNvPr id="118" name="Freeform 118"/>
          <p:cNvSpPr/>
          <p:nvPr/>
        </p:nvSpPr>
        <p:spPr>
          <a:xfrm>
            <a:off x="1488098" y="2200000"/>
            <a:ext cx="3423803" cy="3256230"/>
          </a:xfrm>
          <a:custGeom>
            <a:avLst/>
            <a:gdLst/>
            <a:ahLst/>
            <a:cxnLst/>
            <a:rect l="l" t="t" r="r" b="b"/>
            <a:pathLst>
              <a:path w="3423803" h="3256230">
                <a:moveTo>
                  <a:pt x="1711902" y="0"/>
                </a:moveTo>
                <a:lnTo>
                  <a:pt x="3423803" y="1243769"/>
                </a:lnTo>
                <a:lnTo>
                  <a:pt x="2769915" y="3256230"/>
                </a:lnTo>
                <a:lnTo>
                  <a:pt x="653888" y="3256230"/>
                </a:lnTo>
                <a:lnTo>
                  <a:pt x="0" y="1243769"/>
                </a:lnTo>
                <a:close/>
              </a:path>
            </a:pathLst>
          </a:custGeom>
          <a:solidFill>
            <a:srgbClr val="BFBFBF">
              <a:alpha val="35000"/>
            </a:srgbClr>
          </a:solidFill>
          <a:ln w="9525">
            <a:solidFill>
              <a:srgbClr val="BFBFBF"/>
            </a:solidFill>
          </a:ln>
        </p:spPr>
      </p:sp>
      <p:sp>
        <p:nvSpPr>
          <p:cNvPr id="119" name="Freeform 119"/>
          <p:cNvSpPr/>
          <p:nvPr/>
        </p:nvSpPr>
        <p:spPr>
          <a:xfrm>
            <a:off x="1488098" y="2400000"/>
            <a:ext cx="3423803" cy="3056230"/>
          </a:xfrm>
          <a:custGeom>
            <a:avLst/>
            <a:gdLst/>
            <a:ahLst/>
            <a:cxnLst/>
            <a:rect l="l" t="t" r="r" b="b"/>
            <a:pathLst>
              <a:path w="3423803" h="3056230">
                <a:moveTo>
                  <a:pt x="1711902" y="0"/>
                </a:moveTo>
                <a:lnTo>
                  <a:pt x="3423803" y="1043769"/>
                </a:lnTo>
                <a:lnTo>
                  <a:pt x="2769915" y="3056230"/>
                </a:lnTo>
                <a:lnTo>
                  <a:pt x="771445" y="2894427"/>
                </a:lnTo>
                <a:lnTo>
                  <a:pt x="0" y="1043769"/>
                </a:lnTo>
                <a:close/>
              </a:path>
            </a:pathLst>
          </a:custGeom>
          <a:solidFill>
            <a:srgbClr val="8FAADC">
              <a:alpha val="35000"/>
            </a:srgbClr>
          </a:solidFill>
          <a:ln w="9525">
            <a:solidFill>
              <a:srgbClr val="8FAADC"/>
            </a:solidFill>
          </a:ln>
        </p:spPr>
      </p:sp>
      <p:sp>
        <p:nvSpPr>
          <p:cNvPr id="120" name="Freeform 120"/>
          <p:cNvSpPr/>
          <p:nvPr/>
        </p:nvSpPr>
        <p:spPr>
          <a:xfrm>
            <a:off x="2058732" y="3200000"/>
            <a:ext cx="2282535" cy="1932623"/>
          </a:xfrm>
          <a:custGeom>
            <a:avLst/>
            <a:gdLst/>
            <a:ahLst/>
            <a:cxnLst/>
            <a:rect l="l" t="t" r="r" b="b"/>
            <a:pathLst>
              <a:path w="2282535" h="1932623">
                <a:moveTo>
                  <a:pt x="1141268" y="0"/>
                </a:moveTo>
                <a:lnTo>
                  <a:pt x="2282535" y="429179"/>
                </a:lnTo>
                <a:lnTo>
                  <a:pt x="1964167" y="1932623"/>
                </a:lnTo>
                <a:lnTo>
                  <a:pt x="553482" y="1609016"/>
                </a:lnTo>
                <a:lnTo>
                  <a:pt x="0" y="429179"/>
                </a:lnTo>
                <a:close/>
              </a:path>
            </a:pathLst>
          </a:custGeom>
          <a:solidFill>
            <a:srgbClr val="990000">
              <a:alpha val="35000"/>
            </a:srgbClr>
          </a:solidFill>
          <a:ln w="9525">
            <a:solidFill>
              <a:srgbClr val="990000"/>
            </a:solidFill>
          </a:ln>
        </p:spPr>
      </p:sp>
      <p:graphicFrame>
        <p:nvGraphicFramePr>
          <p:cNvPr id="121" name="Table 121"/>
          <p:cNvGraphicFramePr>
            <a:graphicFrameLocks noGrp="1"/>
          </p:cNvGraphicFramePr>
          <p:nvPr/>
        </p:nvGraphicFramePr>
        <p:xfrm>
          <a:off x="6400000" y="1400000"/>
          <a:ext cx="5690000" cy="3120000"/>
        </p:xfrm>
        <a:graphic>
          <a:graphicData uri="http://schemas.openxmlformats.org/drawingml/2006/table">
            <a:tbl>
              <a:tblPr/>
              <a:tblGrid>
                <a:gridCol w="2000000"/>
                <a:gridCol w="1230000"/>
                <a:gridCol w="1230000"/>
                <a:gridCol w="1230000"/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评分维度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活动前团队能力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改进后团队能力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目标改进团队能力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QCC 运用能力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交付开发能力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问题分析能力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任务推动能力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团队协作能力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</a:t>
                      </a:r>
                    </a:p>
                  </a:txBody>
                  <a:tcPr marL="36576" marR="36576" marT="18288" marB="18288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2" name="Rectangle 122"/>
          <p:cNvSpPr/>
          <p:nvPr/>
        </p:nvSpPr>
        <p:spPr>
          <a:xfrm>
            <a:off x="6800000" y="4900000"/>
            <a:ext cx="280000" cy="200000"/>
          </a:xfrm>
          <a:prstGeom prst="rect">
            <a:avLst/>
          </a:prstGeom>
          <a:solidFill>
            <a:srgbClr val="990000">
              <a:alpha val="35000"/>
            </a:srgbClr>
          </a:solidFill>
          <a:ln w="12700" cap="flat">
            <a:solidFill>
              <a:srgbClr val="990000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3" name="TextBox 123"/>
          <p:cNvSpPr txBox="1"/>
          <p:nvPr/>
        </p:nvSpPr>
        <p:spPr>
          <a:xfrm>
            <a:off x="7130000" y="4850000"/>
            <a:ext cx="17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活动前</a:t>
            </a:r>
          </a:p>
        </p:txBody>
      </p:sp>
      <p:sp>
        <p:nvSpPr>
          <p:cNvPr id="124" name="Rectangle 124"/>
          <p:cNvSpPr/>
          <p:nvPr/>
        </p:nvSpPr>
        <p:spPr>
          <a:xfrm>
            <a:off x="8500000" y="4900000"/>
            <a:ext cx="280000" cy="200000"/>
          </a:xfrm>
          <a:prstGeom prst="rect">
            <a:avLst/>
          </a:prstGeom>
          <a:solidFill>
            <a:srgbClr val="8FAADC">
              <a:alpha val="35000"/>
            </a:srgbClr>
          </a:solidFill>
          <a:ln w="12700" cap="flat">
            <a:solidFill>
              <a:srgbClr val="8FAADC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5" name="TextBox 125"/>
          <p:cNvSpPr txBox="1"/>
          <p:nvPr/>
        </p:nvSpPr>
        <p:spPr>
          <a:xfrm>
            <a:off x="8830000" y="4850000"/>
            <a:ext cx="17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改进后</a:t>
            </a:r>
          </a:p>
        </p:txBody>
      </p:sp>
      <p:sp>
        <p:nvSpPr>
          <p:cNvPr id="126" name="Rectangle 126"/>
          <p:cNvSpPr/>
          <p:nvPr/>
        </p:nvSpPr>
        <p:spPr>
          <a:xfrm>
            <a:off x="10200000" y="4900000"/>
            <a:ext cx="280000" cy="200000"/>
          </a:xfrm>
          <a:prstGeom prst="rect">
            <a:avLst/>
          </a:prstGeom>
          <a:solidFill>
            <a:srgbClr val="BFBFBF">
              <a:alpha val="35000"/>
            </a:srgbClr>
          </a:solidFill>
          <a:ln w="12700" cap="flat">
            <a:solidFill>
              <a:srgbClr val="BFBFBF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7" name="TextBox 127"/>
          <p:cNvSpPr txBox="1"/>
          <p:nvPr/>
        </p:nvSpPr>
        <p:spPr>
          <a:xfrm>
            <a:off x="10530000" y="485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05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目标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83342" y="-12938"/>
            <a:ext cx="11737304" cy="764704"/>
          </a:xfrm>
          <a:prstGeom prst="rect">
            <a:avLst/>
          </a:prstGeom>
          <a:noFill/>
          <a:ln>
            <a:noFill/>
          </a:ln>
        </p:spPr>
        <p:txBody>
          <a:bodyPr lIns="0" tIns="47681" rIns="95364" bIns="47681" anchor="ctr"/>
          <a:lstStyle/>
          <a:p>
            <a:pPr algn="l"/>
            <a:r>
              <a:rPr lang="zh-CN" altLang="en-US" sz="28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下一步打算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400000" y="900000"/>
            <a:ext cx="3750000" cy="500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巩固现有成果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400000" y="1400000"/>
            <a:ext cx="3750000" cy="180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t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完成 4B 源码 PYTHONPATH 注入的真实环境验收；持续完善配置文档与使用规范，沉淀组内知识。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350000" y="900000"/>
            <a:ext cx="3750000" cy="500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下一步改进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4350000" y="1400000"/>
            <a:ext cx="3750000" cy="180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t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第 5 轮状态机与 workflow runner（跨会话续作、幂等恢复）；第 6 轮测试与 verifier 自动化；第 7 轮安全修复循环（受控变更与回退）。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8300000" y="900000"/>
            <a:ext cx="3750000" cy="500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交流和推广</a:t>
            </a:r>
          </a:p>
        </p:txBody>
      </p:sp>
      <p:sp>
        <p:nvSpPr>
          <p:cNvPr id="107" name="Rectangle 107"/>
          <p:cNvSpPr/>
          <p:nvPr/>
        </p:nvSpPr>
        <p:spPr>
          <a:xfrm>
            <a:off x="8300000" y="1400000"/>
            <a:ext cx="3750000" cy="18000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t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在组内分享使用经验；第 8 轮 Skill 精简、第 9 轮并行分析与发布；长期目标：连续运行超 100 小时的自动优化闭环。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400000" y="3500000"/>
            <a:ext cx="114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400" b="1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持续改进 —— 共性收获</a:t>
            </a:r>
          </a:p>
        </p:txBody>
      </p:sp>
      <p:sp>
        <p:nvSpPr>
          <p:cNvPr id="109" name="Rectangle 109"/>
          <p:cNvSpPr/>
          <p:nvPr/>
        </p:nvSpPr>
        <p:spPr>
          <a:xfrm>
            <a:off x="400000" y="3950000"/>
            <a:ext cx="1700000" cy="580000"/>
          </a:xfrm>
          <a:prstGeom prst="rect">
            <a:avLst/>
          </a:prstGeom>
          <a:solidFill>
            <a:srgbClr val="C0C0C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共性收获一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2100000" y="3950000"/>
            <a:ext cx="9700000" cy="58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通过本次 QCC 实践掌握了系统的问题分析方法：选题、现状、根因、对策层层递进，每个结论都有实测证据支撑。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400000" y="4650000"/>
            <a:ext cx="1700000" cy="580000"/>
          </a:xfrm>
          <a:prstGeom prst="rect">
            <a:avLst/>
          </a:prstGeom>
          <a:solidFill>
            <a:srgbClr val="C0C0C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共性收获二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2100000" y="4650000"/>
            <a:ext cx="9700000" cy="58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长程 Agent 任务不能仅靠自然语言约束——程序校验（Hook、状态机、退出码与产物核对）才是可信度的来源。</a:t>
            </a:r>
          </a:p>
        </p:txBody>
      </p:sp>
      <p:sp>
        <p:nvSpPr>
          <p:cNvPr id="113" name="Rectangle 113"/>
          <p:cNvSpPr/>
          <p:nvPr/>
        </p:nvSpPr>
        <p:spPr>
          <a:xfrm>
            <a:off x="400000" y="5350000"/>
            <a:ext cx="1700000" cy="580000"/>
          </a:xfrm>
          <a:prstGeom prst="rect">
            <a:avLst/>
          </a:prstGeom>
          <a:solidFill>
            <a:srgbClr val="C0C0C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共性收获三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2100000" y="5350000"/>
            <a:ext cx="9700000" cy="58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最小方案先行、真实环境验收后再扩展：大规模方案验收失败时完整回滚，保住了可交付的基线。</a:t>
            </a:r>
          </a:p>
        </p:txBody>
      </p:sp>
      <p:sp>
        <p:nvSpPr>
          <p:cNvPr id="115" name="Rectangle 115"/>
          <p:cNvSpPr/>
          <p:nvPr/>
        </p:nvSpPr>
        <p:spPr>
          <a:xfrm>
            <a:off x="400000" y="6050000"/>
            <a:ext cx="1700000" cy="580000"/>
          </a:xfrm>
          <a:prstGeom prst="rect">
            <a:avLst/>
          </a:prstGeom>
          <a:solidFill>
            <a:srgbClr val="C0C0C0"/>
          </a:solidFill>
          <a:ln w="12700" cap="flat">
            <a:solidFill>
              <a:srgbClr val="000000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共性收获四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2100000" y="6050000"/>
            <a:ext cx="9700000" cy="58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BFBFB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zh-CN" altLang="en-US" sz="1100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改进成果固化为插件与文档，可复用、可交接；规范由程序强制执行，新成员上手不依赖口口相传。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solidFill>
            <a:schemeClr val="tx1"/>
          </a:solidFill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ln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基于Agent工作流提升vLLM推理性能优化效率</dc:title>
  <dc:creator>效率提升圈</dc:creator>
  <dcterms:created xsi:type="dcterms:W3CDTF">2026-10-15T00:00:00Z</dcterms:created>
  <dcterms:modified xsi:type="dcterms:W3CDTF">2026-10-15T00:00:00Z</dcterms:modified>
</cp:coreProperties>
</file>